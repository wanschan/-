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54C8"/>
    <a:srgbClr val="8F8F8F"/>
    <a:srgbClr val="39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99-48C6-A0A4-E8514CF63C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99-48C6-A0A4-E8514CF63C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99-48C6-A0A4-E8514CF63C46}"/>
              </c:ext>
            </c:extLst>
          </c:dPt>
          <c:cat>
            <c:strRef>
              <c:f>Sheet1!$B$1:$D$1</c:f>
              <c:strCache>
                <c:ptCount val="3"/>
                <c:pt idx="0">
                  <c:v>优秀</c:v>
                </c:pt>
                <c:pt idx="1">
                  <c:v>良好</c:v>
                </c:pt>
                <c:pt idx="2">
                  <c:v>一般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99-48C6-A0A4-E8514CF63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70分以下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  <c:extLst/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0.82</c:v>
                </c:pt>
                <c:pt idx="1">
                  <c:v>0.2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E7B-485D-8B06-7BF913B66DE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71-89分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6D54C8">
                    <a:alpha val="93000"/>
                  </a:srgb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  <c:extLst/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0.15</c:v>
                </c:pt>
                <c:pt idx="1">
                  <c:v>0.33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FE7B-485D-8B06-7BF913B66DE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90分以上</c:v>
                </c:pt>
              </c:strCache>
            </c:strRef>
          </c:tx>
          <c:spPr>
            <a:gradFill>
              <a:gsLst>
                <a:gs pos="100000">
                  <a:schemeClr val="accent1">
                    <a:lumMod val="45000"/>
                    <a:lumOff val="55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  <c:extLst/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0.03</c:v>
                </c:pt>
                <c:pt idx="1">
                  <c:v>0.56999999999999995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FE7B-485D-8B06-7BF913B66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1"/>
        <c:overlap val="-41"/>
        <c:axId val="23394055"/>
        <c:axId val="24222464"/>
      </c:barChart>
      <c:catAx>
        <c:axId val="2339405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222464"/>
        <c:crosses val="autoZero"/>
        <c:auto val="1"/>
        <c:lblAlgn val="ctr"/>
        <c:lblOffset val="100"/>
        <c:noMultiLvlLbl val="0"/>
      </c:catAx>
      <c:valAx>
        <c:axId val="2422246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394055"/>
        <c:crosses val="autoZero"/>
        <c:crossBetween val="between"/>
        <c:min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82-4279-A5A1-77FE01AD90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82-4279-A5A1-77FE01AD90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82-4279-A5A1-77FE01AD9090}"/>
              </c:ext>
            </c:extLst>
          </c:dPt>
          <c:cat>
            <c:strRef>
              <c:f>Sheet1!$B$1:$D$1</c:f>
              <c:strCache>
                <c:ptCount val="3"/>
                <c:pt idx="0">
                  <c:v>优秀</c:v>
                </c:pt>
                <c:pt idx="1">
                  <c:v>良好</c:v>
                </c:pt>
                <c:pt idx="2">
                  <c:v>一般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82-4279-A5A1-77FE01AD9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76-45A2-AE87-D645F2E8CD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76-45A2-AE87-D645F2E8CD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76-45A2-AE87-D645F2E8CD4C}"/>
              </c:ext>
            </c:extLst>
          </c:dPt>
          <c:cat>
            <c:strRef>
              <c:f>Sheet1!$B$1:$D$1</c:f>
              <c:strCache>
                <c:ptCount val="3"/>
                <c:pt idx="0">
                  <c:v>优秀</c:v>
                </c:pt>
                <c:pt idx="1">
                  <c:v>良好</c:v>
                </c:pt>
                <c:pt idx="2">
                  <c:v>一般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76-45A2-AE87-D645F2E8C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99-48C6-A0A4-E8514CF63C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99-48C6-A0A4-E8514CF63C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99-48C6-A0A4-E8514CF63C46}"/>
              </c:ext>
            </c:extLst>
          </c:dPt>
          <c:cat>
            <c:strRef>
              <c:f>Sheet1!$B$1:$D$1</c:f>
              <c:strCache>
                <c:ptCount val="3"/>
                <c:pt idx="0">
                  <c:v>优秀</c:v>
                </c:pt>
                <c:pt idx="1">
                  <c:v>良好</c:v>
                </c:pt>
                <c:pt idx="2">
                  <c:v>一般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99-48C6-A0A4-E8514CF63C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70分以下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  <c:extLst/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0.82</c:v>
                </c:pt>
                <c:pt idx="1">
                  <c:v>0.2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E7B-485D-8B06-7BF913B66DE8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71-89分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6D54C8">
                    <a:alpha val="93000"/>
                  </a:srgb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  <c:extLst/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0.15</c:v>
                </c:pt>
                <c:pt idx="1">
                  <c:v>0.33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FE7B-485D-8B06-7BF913B66DE8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90分以上</c:v>
                </c:pt>
              </c:strCache>
            </c:strRef>
          </c:tx>
          <c:spPr>
            <a:gradFill>
              <a:gsLst>
                <a:gs pos="100000">
                  <a:schemeClr val="accent1">
                    <a:lumMod val="45000"/>
                    <a:lumOff val="55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Sheet1!$B$1:$C$1</c:f>
              <c:strCache>
                <c:ptCount val="2"/>
                <c:pt idx="0">
                  <c:v>前测</c:v>
                </c:pt>
                <c:pt idx="1">
                  <c:v>后测</c:v>
                </c:pt>
              </c:strCache>
              <c:extLst/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0.03</c:v>
                </c:pt>
                <c:pt idx="1">
                  <c:v>0.56999999999999995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FE7B-485D-8B06-7BF913B66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1"/>
        <c:overlap val="-41"/>
        <c:axId val="23394055"/>
        <c:axId val="24222464"/>
      </c:barChart>
      <c:catAx>
        <c:axId val="2339405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222464"/>
        <c:crosses val="autoZero"/>
        <c:auto val="1"/>
        <c:lblAlgn val="ctr"/>
        <c:lblOffset val="100"/>
        <c:noMultiLvlLbl val="0"/>
      </c:catAx>
      <c:valAx>
        <c:axId val="2422246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394055"/>
        <c:crosses val="autoZero"/>
        <c:crossBetween val="between"/>
        <c:min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82-4279-A5A1-77FE01AD909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82-4279-A5A1-77FE01AD909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82-4279-A5A1-77FE01AD9090}"/>
              </c:ext>
            </c:extLst>
          </c:dPt>
          <c:cat>
            <c:strRef>
              <c:f>Sheet1!$B$1:$D$1</c:f>
              <c:strCache>
                <c:ptCount val="3"/>
                <c:pt idx="0">
                  <c:v>优秀</c:v>
                </c:pt>
                <c:pt idx="1">
                  <c:v>良好</c:v>
                </c:pt>
                <c:pt idx="2">
                  <c:v>一般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82-4279-A5A1-77FE01AD9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76-45A2-AE87-D645F2E8CD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76-45A2-AE87-D645F2E8CD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76-45A2-AE87-D645F2E8CD4C}"/>
              </c:ext>
            </c:extLst>
          </c:dPt>
          <c:cat>
            <c:strRef>
              <c:f>Sheet1!$B$1:$D$1</c:f>
              <c:strCache>
                <c:ptCount val="3"/>
                <c:pt idx="0">
                  <c:v>优秀</c:v>
                </c:pt>
                <c:pt idx="1">
                  <c:v>良好</c:v>
                </c:pt>
                <c:pt idx="2">
                  <c:v>一般</c:v>
                </c:pt>
              </c:strCache>
            </c:strRef>
          </c:cat>
          <c:val>
            <c:numRef>
              <c:f>Sheet1!$B$2:$D$2</c:f>
              <c:numCache>
                <c:formatCode>General</c:formatCode>
                <c:ptCount val="3"/>
                <c:pt idx="0">
                  <c:v>6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76-45A2-AE87-D645F2E8C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7B5B4DA6-FCDB-9EA7-E109-85E52F4F27D7}"/>
              </a:ext>
            </a:extLst>
          </p:cNvPr>
          <p:cNvSpPr/>
          <p:nvPr/>
        </p:nvSpPr>
        <p:spPr>
          <a:xfrm>
            <a:off x="762000" y="1197707"/>
            <a:ext cx="4166747" cy="3028461"/>
          </a:xfrm>
          <a:prstGeom prst="roundRect">
            <a:avLst>
              <a:gd name="adj" fmla="val 0"/>
            </a:avLst>
          </a:prstGeom>
          <a:solidFill>
            <a:srgbClr val="2F4A7B">
              <a:alpha val="8000"/>
            </a:srgbClr>
          </a:solidFill>
          <a:ln w="12700" cap="flat" cmpd="sng">
            <a:solidFill>
              <a:srgbClr val="2F4A7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CA81B9FC-714F-3041-BD07-9D879A5AB01F}"/>
              </a:ext>
            </a:extLst>
          </p:cNvPr>
          <p:cNvSpPr/>
          <p:nvPr/>
        </p:nvSpPr>
        <p:spPr>
          <a:xfrm>
            <a:off x="942601" y="1254362"/>
            <a:ext cx="3822829" cy="4112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《</a:t>
            </a:r>
            <a:r>
              <a:rPr lang="zh-CN" altLang="en-US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量子隧穿的数理本质与前沿挑战</a:t>
            </a:r>
            <a:r>
              <a:rPr lang="en-US" altLang="zh-CN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》</a:t>
            </a:r>
          </a:p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教学视频前后测成绩分布统计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3D284BB5-4FDC-324D-B86F-D5535C903812}"/>
              </a:ext>
            </a:extLst>
          </p:cNvPr>
          <p:cNvSpPr/>
          <p:nvPr/>
        </p:nvSpPr>
        <p:spPr>
          <a:xfrm>
            <a:off x="5190067" y="1197707"/>
            <a:ext cx="6239933" cy="3028461"/>
          </a:xfrm>
          <a:prstGeom prst="roundRect">
            <a:avLst>
              <a:gd name="adj" fmla="val 0"/>
            </a:avLst>
          </a:prstGeom>
          <a:solidFill>
            <a:srgbClr val="2F4A7B">
              <a:alpha val="8000"/>
            </a:srgbClr>
          </a:solidFill>
          <a:ln w="12700" cap="flat" cmpd="sng">
            <a:solidFill>
              <a:srgbClr val="2F4A7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E336CC48-02A0-C3AA-08A6-CC37407398B7}"/>
              </a:ext>
            </a:extLst>
          </p:cNvPr>
          <p:cNvSpPr/>
          <p:nvPr/>
        </p:nvSpPr>
        <p:spPr>
          <a:xfrm>
            <a:off x="5575027" y="1781500"/>
            <a:ext cx="1470933" cy="476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能说出一维势垒三区波函数解的形式差异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9B151D-2B53-784C-6267-0E972E21F686}"/>
              </a:ext>
            </a:extLst>
          </p:cNvPr>
          <p:cNvSpPr txBox="1"/>
          <p:nvPr/>
        </p:nvSpPr>
        <p:spPr>
          <a:xfrm>
            <a:off x="354299" y="475249"/>
            <a:ext cx="54940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教学效果</a:t>
            </a:r>
          </a:p>
        </p:txBody>
      </p:sp>
      <p:graphicFrame>
        <p:nvGraphicFramePr>
          <p:cNvPr id="4194305" name="图表 41943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3533129"/>
              </p:ext>
            </p:extLst>
          </p:nvPr>
        </p:nvGraphicFramePr>
        <p:xfrm>
          <a:off x="5390043" y="2241058"/>
          <a:ext cx="1917237" cy="192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194304" name="图表 41943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8543562"/>
              </p:ext>
            </p:extLst>
          </p:nvPr>
        </p:nvGraphicFramePr>
        <p:xfrm>
          <a:off x="1018803" y="1576224"/>
          <a:ext cx="3638258" cy="2625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C952117-A4DC-0F12-6F20-924DF2C4D7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160636"/>
              </p:ext>
            </p:extLst>
          </p:nvPr>
        </p:nvGraphicFramePr>
        <p:xfrm>
          <a:off x="7226984" y="2241059"/>
          <a:ext cx="1917237" cy="192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DFF600FC-07BA-6B17-ACE1-A92D851069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060793"/>
              </p:ext>
            </p:extLst>
          </p:nvPr>
        </p:nvGraphicFramePr>
        <p:xfrm>
          <a:off x="9204061" y="2241058"/>
          <a:ext cx="1917237" cy="192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AutoShape 14">
            <a:extLst>
              <a:ext uri="{FF2B5EF4-FFF2-40B4-BE49-F238E27FC236}">
                <a16:creationId xmlns:a16="http://schemas.microsoft.com/office/drawing/2014/main" id="{53DAC7C3-55C8-E3B3-9686-0A67A496D91E}"/>
              </a:ext>
            </a:extLst>
          </p:cNvPr>
          <p:cNvSpPr/>
          <p:nvPr/>
        </p:nvSpPr>
        <p:spPr>
          <a:xfrm>
            <a:off x="7371463" y="1764772"/>
            <a:ext cx="1730309" cy="476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给定 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m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、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V</a:t>
            </a:r>
            <a:r>
              <a:rPr lang="en-US" altLang="zh-CN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₀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、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E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、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a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，</a:t>
            </a:r>
            <a:endParaRPr lang="en-US" altLang="zh-CN" sz="1200" i="0" u="none" strike="noStrike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能估算 </a:t>
            </a:r>
            <a:r>
              <a:rPr lang="el-GR" altLang="zh-CN" sz="1200" i="0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κ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a</a:t>
            </a:r>
            <a:r>
              <a:rPr lang="en-US" altLang="zh-CN" sz="1200" i="0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 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并判断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T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的量级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C36E1C2F-439F-9BC6-AE3F-EECFBE1F2245}"/>
              </a:ext>
            </a:extLst>
          </p:cNvPr>
          <p:cNvSpPr/>
          <p:nvPr/>
        </p:nvSpPr>
        <p:spPr>
          <a:xfrm>
            <a:off x="6736481" y="749293"/>
            <a:ext cx="3426198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教学目标达成调查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68984345-3E11-EFDD-6DA5-1D288BF3FE5F}"/>
              </a:ext>
            </a:extLst>
          </p:cNvPr>
          <p:cNvSpPr/>
          <p:nvPr/>
        </p:nvSpPr>
        <p:spPr>
          <a:xfrm>
            <a:off x="9259453" y="1796740"/>
            <a:ext cx="1913745" cy="476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能举出两个工程实例，说明隧穿的指数依赖在该场景中是制约还是可被利用</a:t>
            </a:r>
          </a:p>
        </p:txBody>
      </p:sp>
      <p:sp>
        <p:nvSpPr>
          <p:cNvPr id="11" name="!!矩形 1">
            <a:extLst>
              <a:ext uri="{FF2B5EF4-FFF2-40B4-BE49-F238E27FC236}">
                <a16:creationId xmlns:a16="http://schemas.microsoft.com/office/drawing/2014/main" id="{C95117D2-3EE6-CEE7-306E-76835B1227C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!!矩形 7">
            <a:extLst>
              <a:ext uri="{FF2B5EF4-FFF2-40B4-BE49-F238E27FC236}">
                <a16:creationId xmlns:a16="http://schemas.microsoft.com/office/drawing/2014/main" id="{3DF22A8F-E4C7-13AF-1F04-95567927DBC8}"/>
              </a:ext>
            </a:extLst>
          </p:cNvPr>
          <p:cNvSpPr/>
          <p:nvPr/>
        </p:nvSpPr>
        <p:spPr>
          <a:xfrm>
            <a:off x="9908605" y="0"/>
            <a:ext cx="2281116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" name="!!表格 6">
            <a:extLst>
              <a:ext uri="{FF2B5EF4-FFF2-40B4-BE49-F238E27FC236}">
                <a16:creationId xmlns:a16="http://schemas.microsoft.com/office/drawing/2014/main" id="{5D40903E-3C4D-7C81-8E5D-498184FCC4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0448454"/>
              </p:ext>
            </p:extLst>
          </p:nvPr>
        </p:nvGraphicFramePr>
        <p:xfrm>
          <a:off x="10321192" y="43950"/>
          <a:ext cx="22811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06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教学效果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  <p:sp>
        <p:nvSpPr>
          <p:cNvPr id="14" name="AutoShape 5">
            <a:extLst>
              <a:ext uri="{FF2B5EF4-FFF2-40B4-BE49-F238E27FC236}">
                <a16:creationId xmlns:a16="http://schemas.microsoft.com/office/drawing/2014/main" id="{112100B4-4CD2-04DB-4A7E-56C7C39BCB80}"/>
              </a:ext>
            </a:extLst>
          </p:cNvPr>
          <p:cNvSpPr/>
          <p:nvPr/>
        </p:nvSpPr>
        <p:spPr>
          <a:xfrm>
            <a:off x="762000" y="4323324"/>
            <a:ext cx="4166747" cy="2112645"/>
          </a:xfrm>
          <a:prstGeom prst="roundRect">
            <a:avLst>
              <a:gd name="adj" fmla="val 0"/>
            </a:avLst>
          </a:prstGeom>
          <a:solidFill>
            <a:srgbClr val="2F4A7B">
              <a:alpha val="8000"/>
            </a:srgbClr>
          </a:solidFill>
          <a:ln w="12700" cap="flat" cmpd="sng">
            <a:solidFill>
              <a:srgbClr val="2F4A7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865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extLst>
              <a:ext uri="{FF2B5EF4-FFF2-40B4-BE49-F238E27FC236}">
                <a16:creationId xmlns:a16="http://schemas.microsoft.com/office/drawing/2014/main" id="{7B5B4DA6-FCDB-9EA7-E109-85E52F4F27D7}"/>
              </a:ext>
            </a:extLst>
          </p:cNvPr>
          <p:cNvSpPr/>
          <p:nvPr/>
        </p:nvSpPr>
        <p:spPr>
          <a:xfrm>
            <a:off x="762000" y="1320804"/>
            <a:ext cx="4166747" cy="4874847"/>
          </a:xfrm>
          <a:prstGeom prst="roundRect">
            <a:avLst>
              <a:gd name="adj" fmla="val 0"/>
            </a:avLst>
          </a:prstGeom>
          <a:solidFill>
            <a:srgbClr val="2F4A7B">
              <a:alpha val="8000"/>
            </a:srgbClr>
          </a:solidFill>
          <a:ln w="12700" cap="flat" cmpd="sng">
            <a:solidFill>
              <a:srgbClr val="2F4A7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CA81B9FC-714F-3041-BD07-9D879A5AB01F}"/>
              </a:ext>
            </a:extLst>
          </p:cNvPr>
          <p:cNvSpPr/>
          <p:nvPr/>
        </p:nvSpPr>
        <p:spPr>
          <a:xfrm>
            <a:off x="942601" y="2139459"/>
            <a:ext cx="3822829" cy="41127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altLang="zh-CN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《</a:t>
            </a:r>
            <a:r>
              <a:rPr lang="zh-CN" altLang="en-US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量子隧穿的数理本质与前沿挑战</a:t>
            </a:r>
            <a:r>
              <a:rPr lang="en-US" altLang="zh-CN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》</a:t>
            </a:r>
          </a:p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教学视频前后测成绩分布统计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AutoShape 12">
            <a:extLst>
              <a:ext uri="{FF2B5EF4-FFF2-40B4-BE49-F238E27FC236}">
                <a16:creationId xmlns:a16="http://schemas.microsoft.com/office/drawing/2014/main" id="{3D284BB5-4FDC-324D-B86F-D5535C903812}"/>
              </a:ext>
            </a:extLst>
          </p:cNvPr>
          <p:cNvSpPr/>
          <p:nvPr/>
        </p:nvSpPr>
        <p:spPr>
          <a:xfrm>
            <a:off x="5190067" y="1320804"/>
            <a:ext cx="6239933" cy="4874847"/>
          </a:xfrm>
          <a:prstGeom prst="roundRect">
            <a:avLst>
              <a:gd name="adj" fmla="val 0"/>
            </a:avLst>
          </a:prstGeom>
          <a:solidFill>
            <a:srgbClr val="2F4A7B">
              <a:alpha val="8000"/>
            </a:srgbClr>
          </a:solidFill>
          <a:ln w="12700" cap="flat" cmpd="sng">
            <a:solidFill>
              <a:srgbClr val="2F4A7B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E336CC48-02A0-C3AA-08A6-CC37407398B7}"/>
              </a:ext>
            </a:extLst>
          </p:cNvPr>
          <p:cNvSpPr/>
          <p:nvPr/>
        </p:nvSpPr>
        <p:spPr>
          <a:xfrm>
            <a:off x="5575027" y="2666597"/>
            <a:ext cx="1470933" cy="476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能说出一维势垒三区波函数解的形式差异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9B151D-2B53-784C-6267-0E972E21F686}"/>
              </a:ext>
            </a:extLst>
          </p:cNvPr>
          <p:cNvSpPr txBox="1"/>
          <p:nvPr/>
        </p:nvSpPr>
        <p:spPr>
          <a:xfrm>
            <a:off x="354299" y="598346"/>
            <a:ext cx="54940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教学效果</a:t>
            </a:r>
          </a:p>
        </p:txBody>
      </p:sp>
      <p:graphicFrame>
        <p:nvGraphicFramePr>
          <p:cNvPr id="4194305" name="图表 41943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465187"/>
              </p:ext>
            </p:extLst>
          </p:nvPr>
        </p:nvGraphicFramePr>
        <p:xfrm>
          <a:off x="5390043" y="3126155"/>
          <a:ext cx="1917237" cy="192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194304" name="图表 419430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4814532"/>
              </p:ext>
            </p:extLst>
          </p:nvPr>
        </p:nvGraphicFramePr>
        <p:xfrm>
          <a:off x="1018803" y="2461321"/>
          <a:ext cx="3638258" cy="2625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C952117-A4DC-0F12-6F20-924DF2C4D7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8913437"/>
              </p:ext>
            </p:extLst>
          </p:nvPr>
        </p:nvGraphicFramePr>
        <p:xfrm>
          <a:off x="7226984" y="3126156"/>
          <a:ext cx="1917237" cy="192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DFF600FC-07BA-6B17-ACE1-A92D851069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8564920"/>
              </p:ext>
            </p:extLst>
          </p:nvPr>
        </p:nvGraphicFramePr>
        <p:xfrm>
          <a:off x="9204061" y="3126155"/>
          <a:ext cx="1917237" cy="1924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AutoShape 14">
            <a:extLst>
              <a:ext uri="{FF2B5EF4-FFF2-40B4-BE49-F238E27FC236}">
                <a16:creationId xmlns:a16="http://schemas.microsoft.com/office/drawing/2014/main" id="{53DAC7C3-55C8-E3B3-9686-0A67A496D91E}"/>
              </a:ext>
            </a:extLst>
          </p:cNvPr>
          <p:cNvSpPr/>
          <p:nvPr/>
        </p:nvSpPr>
        <p:spPr>
          <a:xfrm>
            <a:off x="7371463" y="2649869"/>
            <a:ext cx="1730309" cy="476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给定 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m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、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V</a:t>
            </a:r>
            <a:r>
              <a:rPr lang="en-US" altLang="zh-CN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₀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、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E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、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a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，</a:t>
            </a:r>
            <a:endParaRPr lang="en-US" altLang="zh-CN" sz="1200" i="0" u="none" strike="noStrike" dirty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Noto Sans SC"/>
              <a:sym typeface="Noto Sans SC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能估算 </a:t>
            </a:r>
            <a:r>
              <a:rPr lang="el-GR" altLang="zh-CN" sz="1200" i="0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κ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a</a:t>
            </a:r>
            <a:r>
              <a:rPr lang="en-US" altLang="zh-CN" sz="1200" i="0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 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并判断</a:t>
            </a:r>
            <a:r>
              <a:rPr lang="en-US" altLang="zh-CN" sz="1200" i="1" u="none" strike="noStrike" dirty="0">
                <a:solidFill>
                  <a:srgbClr val="33333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Noto Sans SC"/>
              </a:rPr>
              <a:t>T</a:t>
            </a: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的量级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C36E1C2F-439F-9BC6-AE3F-EECFBE1F2245}"/>
              </a:ext>
            </a:extLst>
          </p:cNvPr>
          <p:cNvSpPr/>
          <p:nvPr/>
        </p:nvSpPr>
        <p:spPr>
          <a:xfrm>
            <a:off x="6736481" y="1634390"/>
            <a:ext cx="3426198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教学目标达成调查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68984345-3E11-EFDD-6DA5-1D288BF3FE5F}"/>
              </a:ext>
            </a:extLst>
          </p:cNvPr>
          <p:cNvSpPr/>
          <p:nvPr/>
        </p:nvSpPr>
        <p:spPr>
          <a:xfrm>
            <a:off x="9259453" y="2681837"/>
            <a:ext cx="1913745" cy="4762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i="0" u="none" strike="noStrike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Noto Sans SC"/>
                <a:sym typeface="Noto Sans SC"/>
              </a:rPr>
              <a:t>能举出两个工程实例，说明隧穿的指数依赖在该场景中是制约还是可被利用</a:t>
            </a:r>
          </a:p>
        </p:txBody>
      </p:sp>
      <p:sp>
        <p:nvSpPr>
          <p:cNvPr id="11" name="!!矩形 1">
            <a:extLst>
              <a:ext uri="{FF2B5EF4-FFF2-40B4-BE49-F238E27FC236}">
                <a16:creationId xmlns:a16="http://schemas.microsoft.com/office/drawing/2014/main" id="{C95117D2-3EE6-CEE7-306E-76835B1227C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450003"/>
          </a:xfrm>
          <a:prstGeom prst="rect">
            <a:avLst/>
          </a:prstGeom>
          <a:solidFill>
            <a:srgbClr val="2F4A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!!矩形 7">
            <a:extLst>
              <a:ext uri="{FF2B5EF4-FFF2-40B4-BE49-F238E27FC236}">
                <a16:creationId xmlns:a16="http://schemas.microsoft.com/office/drawing/2014/main" id="{3DF22A8F-E4C7-13AF-1F04-95567927DBC8}"/>
              </a:ext>
            </a:extLst>
          </p:cNvPr>
          <p:cNvSpPr/>
          <p:nvPr/>
        </p:nvSpPr>
        <p:spPr>
          <a:xfrm>
            <a:off x="9908605" y="0"/>
            <a:ext cx="2281116" cy="450003"/>
          </a:xfrm>
          <a:prstGeom prst="rect">
            <a:avLst/>
          </a:prstGeom>
          <a:solidFill>
            <a:srgbClr val="90A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" name="!!表格 6">
            <a:extLst>
              <a:ext uri="{FF2B5EF4-FFF2-40B4-BE49-F238E27FC236}">
                <a16:creationId xmlns:a16="http://schemas.microsoft.com/office/drawing/2014/main" id="{5D40903E-3C4D-7C81-8E5D-498184FCC4C3}"/>
              </a:ext>
            </a:extLst>
          </p:cNvPr>
          <p:cNvGraphicFramePr>
            <a:graphicFrameLocks/>
          </p:cNvGraphicFramePr>
          <p:nvPr/>
        </p:nvGraphicFramePr>
        <p:xfrm>
          <a:off x="10321192" y="43950"/>
          <a:ext cx="22811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116">
                  <a:extLst>
                    <a:ext uri="{9D8B030D-6E8A-4147-A177-3AD203B41FA5}">
                      <a16:colId xmlns:a16="http://schemas.microsoft.com/office/drawing/2014/main" val="2484946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06 </a:t>
                      </a:r>
                      <a:r>
                        <a:rPr lang="zh-CN" altLang="en-US" b="0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教学效果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4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53161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144</Words>
  <Application>Microsoft Office PowerPoint</Application>
  <PresentationFormat>宽屏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Calibri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邓珊珊</dc:creator>
  <cp:lastModifiedBy>呈安 婉夙</cp:lastModifiedBy>
  <cp:revision>12</cp:revision>
  <dcterms:created xsi:type="dcterms:W3CDTF">2023-08-09T12:44:00Z</dcterms:created>
  <dcterms:modified xsi:type="dcterms:W3CDTF">2026-09-08T08:34:03Z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
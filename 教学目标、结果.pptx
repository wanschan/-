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64" r:id="rId3"/>
    <p:sldId id="263" r:id="rId4"/>
    <p:sldId id="265" r:id="rId5"/>
    <p:sldId id="266" r:id="rId6"/>
    <p:sldId id="267" r:id="rId7"/>
    <p:sldId id="268" r:id="rId8"/>
    <p:sldId id="269" r:id="rId9"/>
    <p:sldId id="272" r:id="rId10"/>
    <p:sldId id="270" r:id="rId11"/>
    <p:sldId id="271" r:id="rId12"/>
    <p:sldId id="274" r:id="rId13"/>
    <p:sldId id="273" r:id="rId14"/>
    <p:sldId id="275" r:id="rId15"/>
    <p:sldId id="276" r:id="rId16"/>
    <p:sldId id="27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C8C6"/>
    <a:srgbClr val="867DB5"/>
    <a:srgbClr val="94ADCB"/>
    <a:srgbClr val="E5EDF5"/>
    <a:srgbClr val="DAD7E8"/>
    <a:srgbClr val="90A8D4"/>
    <a:srgbClr val="FFFFFF"/>
    <a:srgbClr val="C0D1E3"/>
    <a:srgbClr val="BECFE1"/>
    <a:srgbClr val="2F4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2183" autoAdjust="0"/>
  </p:normalViewPr>
  <p:slideViewPr>
    <p:cSldViewPr snapToGrid="0">
      <p:cViewPr>
        <p:scale>
          <a:sx n="50" d="100"/>
          <a:sy n="50" d="100"/>
        </p:scale>
        <p:origin x="1672" y="25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wsca\&#24037;&#20316;&#31807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wsca\&#24037;&#20316;&#31807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867443261699137E-2"/>
          <c:y val="0.10237288135593221"/>
          <c:w val="0.91186615363473955"/>
          <c:h val="0.562101694915254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Sheet1!$B$31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6E0-4FBD-8F33-5A031BFAF0AE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6E0-4FBD-8F33-5A031BFAF0AE}"/>
              </c:ext>
            </c:extLst>
          </c:dPt>
          <c:cat>
            <c:strRef>
              <c:f>Sheet1!$A$32:$A$35</c:f>
              <c:strCache>
                <c:ptCount val="4"/>
                <c:pt idx="0">
                  <c:v>前测</c:v>
                </c:pt>
                <c:pt idx="1">
                  <c:v>后测</c:v>
                </c:pt>
                <c:pt idx="2">
                  <c:v>平均增值</c:v>
                </c:pt>
                <c:pt idx="3">
                  <c:v>达 80% 阈值</c:v>
                </c:pt>
              </c:strCache>
            </c:strRef>
          </c:cat>
          <c:val>
            <c:numRef>
              <c:f>Sheet1!$B$32:$B$35</c:f>
              <c:numCache>
                <c:formatCode>0.00%</c:formatCode>
                <c:ptCount val="4"/>
                <c:pt idx="0">
                  <c:v>0.55100000000000005</c:v>
                </c:pt>
                <c:pt idx="1">
                  <c:v>0.872</c:v>
                </c:pt>
                <c:pt idx="2" formatCode="General">
                  <c:v>0</c:v>
                </c:pt>
                <c:pt idx="3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0-4FBD-8F33-5A031BFAF0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5"/>
        <c:overlap val="62"/>
        <c:axId val="1149320368"/>
        <c:axId val="1149321328"/>
      </c:barChart>
      <c:catAx>
        <c:axId val="11493203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21328"/>
        <c:crosses val="autoZero"/>
        <c:auto val="1"/>
        <c:lblAlgn val="ctr"/>
        <c:lblOffset val="100"/>
        <c:noMultiLvlLbl val="0"/>
      </c:catAx>
      <c:valAx>
        <c:axId val="1149321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9320368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867443261699137E-2"/>
          <c:y val="0.10237288135593221"/>
          <c:w val="0.91186615363473955"/>
          <c:h val="0.562101694915254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Sheet1!$B$31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F4-41AE-B57B-36B6B22534C1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F4-41AE-B57B-36B6B22534C1}"/>
              </c:ext>
            </c:extLst>
          </c:dPt>
          <c:cat>
            <c:strRef>
              <c:f>Sheet1!$A$32:$A$35</c:f>
              <c:strCache>
                <c:ptCount val="4"/>
                <c:pt idx="0">
                  <c:v>前测</c:v>
                </c:pt>
                <c:pt idx="1">
                  <c:v>后测</c:v>
                </c:pt>
                <c:pt idx="2">
                  <c:v>平均增值</c:v>
                </c:pt>
                <c:pt idx="3">
                  <c:v>达 80% 阈值</c:v>
                </c:pt>
              </c:strCache>
            </c:strRef>
          </c:cat>
          <c:val>
            <c:numRef>
              <c:f>Sheet1!$B$32:$B$35</c:f>
              <c:numCache>
                <c:formatCode>0.00%</c:formatCode>
                <c:ptCount val="4"/>
                <c:pt idx="0">
                  <c:v>0.55100000000000005</c:v>
                </c:pt>
                <c:pt idx="1">
                  <c:v>0.872</c:v>
                </c:pt>
                <c:pt idx="2" formatCode="General">
                  <c:v>0</c:v>
                </c:pt>
                <c:pt idx="3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F4-41AE-B57B-36B6B2253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5"/>
        <c:overlap val="62"/>
        <c:axId val="1149320368"/>
        <c:axId val="1149321328"/>
      </c:barChart>
      <c:catAx>
        <c:axId val="11493203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21328"/>
        <c:crosses val="autoZero"/>
        <c:auto val="1"/>
        <c:lblAlgn val="ctr"/>
        <c:lblOffset val="100"/>
        <c:noMultiLvlLbl val="0"/>
      </c:catAx>
      <c:valAx>
        <c:axId val="1149321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9320368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4923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7030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24557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707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6313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25127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1306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98516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54883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6194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233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5473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75355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064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218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 dirty="0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黑体" panose="02010609060101010101" pitchFamily="49" charset="-122"/>
          <a:ea typeface="黑体" panose="02010609060101010101" pitchFamily="49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6095701" y="1358898"/>
            <a:ext cx="6096000" cy="3111501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0" y="1358899"/>
            <a:ext cx="6096000" cy="3111501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2437902" y="1270000"/>
            <a:ext cx="3420000" cy="53236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AutoShape 11">
            <a:extLst>
              <a:ext uri="{FF2B5EF4-FFF2-40B4-BE49-F238E27FC236}">
                <a16:creationId xmlns:a16="http://schemas.microsoft.com/office/drawing/2014/main" id="{09DBD761-2694-2408-58F3-B94EF833E80A}"/>
              </a:ext>
            </a:extLst>
          </p:cNvPr>
          <p:cNvSpPr/>
          <p:nvPr/>
        </p:nvSpPr>
        <p:spPr>
          <a:xfrm>
            <a:off x="243376" y="2206972"/>
            <a:ext cx="189865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2F4A7B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前测纸质试卷</a:t>
            </a:r>
            <a:endParaRPr lang="en-US" sz="1300" b="0" i="0" u="none" strike="noStrike" dirty="0">
              <a:solidFill>
                <a:srgbClr val="444444"/>
              </a:solidFill>
              <a:latin typeface="等线" panose="02010600030101010101" pitchFamily="2" charset="-122"/>
              <a:ea typeface="等线" panose="02010600030101010101" pitchFamily="2" charset="-122"/>
              <a:cs typeface="Noto Sans SC"/>
              <a:sym typeface="Noto Sans SC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591"/>
          <a:stretch/>
        </p:blipFill>
        <p:spPr>
          <a:xfrm>
            <a:off x="6334092" y="1270001"/>
            <a:ext cx="3420000" cy="53236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AutoShape 11">
            <a:extLst>
              <a:ext uri="{FF2B5EF4-FFF2-40B4-BE49-F238E27FC236}">
                <a16:creationId xmlns:a16="http://schemas.microsoft.com/office/drawing/2014/main" id="{B0C923AF-CCD9-DF66-CFF7-A26673436B96}"/>
              </a:ext>
            </a:extLst>
          </p:cNvPr>
          <p:cNvSpPr/>
          <p:nvPr/>
        </p:nvSpPr>
        <p:spPr>
          <a:xfrm>
            <a:off x="10049975" y="2213430"/>
            <a:ext cx="189865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2F4A7B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前测电子试卷</a:t>
            </a:r>
            <a:endParaRPr lang="en-US" sz="1300" b="0" i="0" u="none" strike="noStrike" dirty="0">
              <a:solidFill>
                <a:srgbClr val="444444"/>
              </a:solidFill>
              <a:latin typeface="等线" panose="02010600030101010101" pitchFamily="2" charset="-122"/>
              <a:ea typeface="等线" panose="02010600030101010101" pitchFamily="2" charset="-122"/>
              <a:cs typeface="Noto Sans SC"/>
              <a:sym typeface="Noto Sans SC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35D7564-751D-68FF-11E0-0F4403F1EB9B}"/>
              </a:ext>
            </a:extLst>
          </p:cNvPr>
          <p:cNvGrpSpPr/>
          <p:nvPr/>
        </p:nvGrpSpPr>
        <p:grpSpPr>
          <a:xfrm>
            <a:off x="1814534" y="2353148"/>
            <a:ext cx="508395" cy="365035"/>
            <a:chOff x="1814534" y="2353148"/>
            <a:chExt cx="508395" cy="365035"/>
          </a:xfrm>
        </p:grpSpPr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EAE34C90-57B7-A1D4-D1A0-59A5E07B1A3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814534" y="2356377"/>
              <a:ext cx="361806" cy="361806"/>
            </a:xfrm>
            <a:prstGeom prst="halfFram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2E82607-C4EF-A618-8674-98B1D0EAE3F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961123" y="2353148"/>
              <a:ext cx="361806" cy="361806"/>
            </a:xfrm>
            <a:prstGeom prst="halfFrame">
              <a:avLst>
                <a:gd name="adj1" fmla="val 17127"/>
                <a:gd name="adj2" fmla="val 17069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7B1E305-68F4-FD66-2063-884D161825A0}"/>
              </a:ext>
            </a:extLst>
          </p:cNvPr>
          <p:cNvGrpSpPr/>
          <p:nvPr/>
        </p:nvGrpSpPr>
        <p:grpSpPr>
          <a:xfrm>
            <a:off x="9869072" y="2349919"/>
            <a:ext cx="497800" cy="365035"/>
            <a:chOff x="9869072" y="2349919"/>
            <a:chExt cx="497800" cy="365035"/>
          </a:xfrm>
        </p:grpSpPr>
        <p:sp>
          <p:nvSpPr>
            <p:cNvPr id="32" name="半闭框 31">
              <a:extLst>
                <a:ext uri="{FF2B5EF4-FFF2-40B4-BE49-F238E27FC236}">
                  <a16:creationId xmlns:a16="http://schemas.microsoft.com/office/drawing/2014/main" id="{785A587D-9A40-5131-7668-D22CAC8E1DF2}"/>
                </a:ext>
              </a:extLst>
            </p:cNvPr>
            <p:cNvSpPr>
              <a:spLocks noChangeAspect="1"/>
            </p:cNvSpPr>
            <p:nvPr/>
          </p:nvSpPr>
          <p:spPr>
            <a:xfrm rot="13500000" flipH="1">
              <a:off x="10005066" y="2353148"/>
              <a:ext cx="361806" cy="361806"/>
            </a:xfrm>
            <a:prstGeom prst="halfFram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半闭框 32">
              <a:extLst>
                <a:ext uri="{FF2B5EF4-FFF2-40B4-BE49-F238E27FC236}">
                  <a16:creationId xmlns:a16="http://schemas.microsoft.com/office/drawing/2014/main" id="{B5B220FE-C178-3B27-925D-AC7DB9A471DD}"/>
                </a:ext>
              </a:extLst>
            </p:cNvPr>
            <p:cNvSpPr>
              <a:spLocks noChangeAspect="1"/>
            </p:cNvSpPr>
            <p:nvPr/>
          </p:nvSpPr>
          <p:spPr>
            <a:xfrm rot="13500000" flipH="1">
              <a:off x="9869072" y="2349919"/>
              <a:ext cx="361806" cy="361806"/>
            </a:xfrm>
            <a:prstGeom prst="halfFrame">
              <a:avLst>
                <a:gd name="adj1" fmla="val 17127"/>
                <a:gd name="adj2" fmla="val 17069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6318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5" grpId="0" animBg="1"/>
      <p:bldP spid="17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5D3DB503-14B2-DD31-10A7-5DC8ABDCE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-6334959" y="-16208285"/>
            <a:ext cx="6251788" cy="16204691"/>
          </a:xfrm>
          <a:prstGeom prst="rect">
            <a:avLst/>
          </a:prstGeom>
        </p:spPr>
      </p:pic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7411453" y="1358898"/>
            <a:ext cx="4780248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0" y="1358899"/>
            <a:ext cx="4780248" cy="4541387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268000" y="1098549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91"/>
          <a:stretch/>
        </p:blipFill>
        <p:spPr>
          <a:xfrm>
            <a:off x="5268000" y="3911599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235D7564-751D-68FF-11E0-0F4403F1EB9B}"/>
              </a:ext>
            </a:extLst>
          </p:cNvPr>
          <p:cNvGrpSpPr/>
          <p:nvPr/>
        </p:nvGrpSpPr>
        <p:grpSpPr>
          <a:xfrm rot="5400000">
            <a:off x="2135926" y="2500143"/>
            <a:ext cx="508395" cy="365035"/>
            <a:chOff x="1814534" y="2353148"/>
            <a:chExt cx="508395" cy="365035"/>
          </a:xfrm>
        </p:grpSpPr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EAE34C90-57B7-A1D4-D1A0-59A5E07B1A3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814534" y="2356377"/>
              <a:ext cx="361806" cy="361806"/>
            </a:xfrm>
            <a:prstGeom prst="halfFram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2E82607-C4EF-A618-8674-98B1D0EAE3F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961123" y="2353148"/>
              <a:ext cx="361806" cy="361806"/>
            </a:xfrm>
            <a:prstGeom prst="halfFrame">
              <a:avLst>
                <a:gd name="adj1" fmla="val 17127"/>
                <a:gd name="adj2" fmla="val 17069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7B1E305-68F4-FD66-2063-884D161825A0}"/>
              </a:ext>
            </a:extLst>
          </p:cNvPr>
          <p:cNvGrpSpPr/>
          <p:nvPr/>
        </p:nvGrpSpPr>
        <p:grpSpPr>
          <a:xfrm rot="-5400000">
            <a:off x="9552677" y="2433784"/>
            <a:ext cx="497800" cy="365035"/>
            <a:chOff x="9869072" y="2349919"/>
            <a:chExt cx="497800" cy="365035"/>
          </a:xfrm>
        </p:grpSpPr>
        <p:sp>
          <p:nvSpPr>
            <p:cNvPr id="32" name="半闭框 31">
              <a:extLst>
                <a:ext uri="{FF2B5EF4-FFF2-40B4-BE49-F238E27FC236}">
                  <a16:creationId xmlns:a16="http://schemas.microsoft.com/office/drawing/2014/main" id="{785A587D-9A40-5131-7668-D22CAC8E1DF2}"/>
                </a:ext>
              </a:extLst>
            </p:cNvPr>
            <p:cNvSpPr>
              <a:spLocks noChangeAspect="1"/>
            </p:cNvSpPr>
            <p:nvPr/>
          </p:nvSpPr>
          <p:spPr>
            <a:xfrm rot="13500000" flipH="1">
              <a:off x="10005066" y="2353148"/>
              <a:ext cx="361806" cy="361806"/>
            </a:xfrm>
            <a:prstGeom prst="halfFram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半闭框 32">
              <a:extLst>
                <a:ext uri="{FF2B5EF4-FFF2-40B4-BE49-F238E27FC236}">
                  <a16:creationId xmlns:a16="http://schemas.microsoft.com/office/drawing/2014/main" id="{B5B220FE-C178-3B27-925D-AC7DB9A471DD}"/>
                </a:ext>
              </a:extLst>
            </p:cNvPr>
            <p:cNvSpPr>
              <a:spLocks noChangeAspect="1"/>
            </p:cNvSpPr>
            <p:nvPr/>
          </p:nvSpPr>
          <p:spPr>
            <a:xfrm rot="13500000" flipH="1">
              <a:off x="9869072" y="2349919"/>
              <a:ext cx="361806" cy="361806"/>
            </a:xfrm>
            <a:prstGeom prst="halfFrame">
              <a:avLst>
                <a:gd name="adj1" fmla="val 17127"/>
                <a:gd name="adj2" fmla="val 17069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7847017-82C4-9C38-9071-160F957F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24" y="3466305"/>
            <a:ext cx="3600000" cy="21424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7689-8073-2883-38A1-991CB1AC6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876" y="3466305"/>
            <a:ext cx="3600000" cy="2143487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42745190-1F67-9C81-ED93-B452B5EB0844}"/>
              </a:ext>
            </a:extLst>
          </p:cNvPr>
          <p:cNvSpPr/>
          <p:nvPr/>
        </p:nvSpPr>
        <p:spPr>
          <a:xfrm>
            <a:off x="1439184" y="2036599"/>
            <a:ext cx="189865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2F4A7B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认知特点</a:t>
            </a:r>
            <a:endParaRPr lang="en-US" sz="1300" b="0" i="0" u="none" strike="noStrike" dirty="0">
              <a:solidFill>
                <a:srgbClr val="444444"/>
              </a:solidFill>
              <a:latin typeface="等线" panose="02010600030101010101" pitchFamily="2" charset="-122"/>
              <a:ea typeface="等线" panose="02010600030101010101" pitchFamily="2" charset="-122"/>
              <a:cs typeface="Noto Sans SC"/>
              <a:sym typeface="Noto Sans SC"/>
            </a:endParaRP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B0053869-A3D9-247B-511A-227A0A187860}"/>
              </a:ext>
            </a:extLst>
          </p:cNvPr>
          <p:cNvSpPr/>
          <p:nvPr/>
        </p:nvSpPr>
        <p:spPr>
          <a:xfrm>
            <a:off x="8854166" y="2029680"/>
            <a:ext cx="189865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2F4A7B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能力分析</a:t>
            </a:r>
            <a:endParaRPr lang="en-US" sz="1300" b="0" i="0" u="none" strike="noStrike" dirty="0">
              <a:solidFill>
                <a:srgbClr val="444444"/>
              </a:solidFill>
              <a:latin typeface="等线" panose="02010600030101010101" pitchFamily="2" charset="-122"/>
              <a:ea typeface="等线" panose="02010600030101010101" pitchFamily="2" charset="-122"/>
              <a:cs typeface="Noto Sans SC"/>
              <a:sym typeface="Noto Sans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E49920-68EB-B56C-34FA-C57E9D47AAEE}"/>
              </a:ext>
            </a:extLst>
          </p:cNvPr>
          <p:cNvSpPr/>
          <p:nvPr/>
        </p:nvSpPr>
        <p:spPr>
          <a:xfrm rot="20400000">
            <a:off x="-5576707" y="-4446955"/>
            <a:ext cx="14250906" cy="3266175"/>
          </a:xfrm>
          <a:prstGeom prst="rect">
            <a:avLst/>
          </a:prstGeom>
          <a:gradFill>
            <a:gsLst>
              <a:gs pos="93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8022B6-E840-7D01-45F6-86B0874F8C3E}"/>
              </a:ext>
            </a:extLst>
          </p:cNvPr>
          <p:cNvSpPr/>
          <p:nvPr/>
        </p:nvSpPr>
        <p:spPr>
          <a:xfrm rot="20400000" flipH="1" flipV="1">
            <a:off x="2021994" y="8356868"/>
            <a:ext cx="15536396" cy="6147526"/>
          </a:xfrm>
          <a:prstGeom prst="rect">
            <a:avLst/>
          </a:prstGeom>
          <a:gradFill>
            <a:gsLst>
              <a:gs pos="93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6DB5DF-847D-6B06-2A9F-B29793071ED8}"/>
              </a:ext>
            </a:extLst>
          </p:cNvPr>
          <p:cNvSpPr/>
          <p:nvPr/>
        </p:nvSpPr>
        <p:spPr>
          <a:xfrm>
            <a:off x="12265952" y="1821285"/>
            <a:ext cx="6733248" cy="934952"/>
          </a:xfrm>
          <a:prstGeom prst="rect">
            <a:avLst/>
          </a:prstGeom>
          <a:solidFill>
            <a:srgbClr val="94A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）复数行波的方向辨识困难：分不清</a:t>
            </a:r>
            <a:r>
              <a:rPr lang="en-US" altLang="zh-CN" kern="1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哪一个是入射波、哪一个是反射波，根因是未建立“相位随时间的移动方向决定传播方向”这一观念。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85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59F25F-3023-9EE0-2CDE-1C18860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1505154" y="-914229"/>
            <a:ext cx="6251788" cy="162046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268000" y="7178915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2FAFF5-CD23-A918-0DC1-776ADCEE4C7C}"/>
              </a:ext>
            </a:extLst>
          </p:cNvPr>
          <p:cNvSpPr/>
          <p:nvPr/>
        </p:nvSpPr>
        <p:spPr>
          <a:xfrm rot="20400000">
            <a:off x="-3475561" y="-1111092"/>
            <a:ext cx="14250906" cy="3266175"/>
          </a:xfrm>
          <a:prstGeom prst="rect">
            <a:avLst/>
          </a:prstGeom>
          <a:gradFill>
            <a:gsLst>
              <a:gs pos="94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-5034027" y="1358899"/>
            <a:ext cx="4780248" cy="4541387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91"/>
          <a:stretch/>
        </p:blipFill>
        <p:spPr>
          <a:xfrm>
            <a:off x="5268000" y="7188117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847017-82C4-9C38-9071-160F957F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7450" y="3464798"/>
            <a:ext cx="3610704" cy="2148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7689-8073-2883-38A1-991CB1AC6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5477" y="3466305"/>
            <a:ext cx="3600000" cy="214348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B3A0CDA-6120-E8D5-B56B-A3329761AD99}"/>
              </a:ext>
            </a:extLst>
          </p:cNvPr>
          <p:cNvSpPr/>
          <p:nvPr/>
        </p:nvSpPr>
        <p:spPr>
          <a:xfrm rot="20400000" flipH="1" flipV="1">
            <a:off x="-1333932" y="1942628"/>
            <a:ext cx="15536396" cy="7539389"/>
          </a:xfrm>
          <a:prstGeom prst="rect">
            <a:avLst/>
          </a:prstGeom>
          <a:gradFill>
            <a:gsLst>
              <a:gs pos="96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F2B5FD-0D54-5521-0084-12F89379340F}"/>
              </a:ext>
            </a:extLst>
          </p:cNvPr>
          <p:cNvSpPr/>
          <p:nvPr/>
        </p:nvSpPr>
        <p:spPr>
          <a:xfrm>
            <a:off x="5458752" y="1821285"/>
            <a:ext cx="6733248" cy="934952"/>
          </a:xfrm>
          <a:prstGeom prst="rect">
            <a:avLst/>
          </a:prstGeom>
          <a:solidFill>
            <a:srgbClr val="94A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）复数行波的方向辨识困难：分不清</a:t>
            </a:r>
            <a:r>
              <a:rPr lang="en-US" altLang="zh-CN" kern="1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哪一个是入射波、哪一个是反射波，根因是未建立“相位随时间的移动方向决定传播方向”这一观念。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8D111C-B225-9AF1-64E5-3485471F7850}"/>
              </a:ext>
            </a:extLst>
          </p:cNvPr>
          <p:cNvSpPr/>
          <p:nvPr/>
        </p:nvSpPr>
        <p:spPr>
          <a:xfrm>
            <a:off x="12291352" y="2826631"/>
            <a:ext cx="6733248" cy="934952"/>
          </a:xfrm>
          <a:prstGeom prst="rect">
            <a:avLst/>
          </a:prstGeom>
          <a:solidFill>
            <a:srgbClr val="C0D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）把“衰减”理解为“衰减到零”：一旦承认“衰减但非零”，隧穿的存在性就是显然的；反之，若认定“衰减即归零”，则无论给出什么公式，学生都只会死记结论。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2A6B43-8E01-8802-8B13-CE1243917C48}"/>
              </a:ext>
            </a:extLst>
          </p:cNvPr>
          <p:cNvSpPr/>
          <p:nvPr/>
        </p:nvSpPr>
        <p:spPr>
          <a:xfrm>
            <a:off x="12291351" y="3831977"/>
            <a:ext cx="6733248" cy="934952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）代数消元过程冗长导致认知放弃：由四个边界条件方程消元得到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的表达式，中间步骤较多；学习者常在此处掉队，转而放弃理解，导致后续无法迁移。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D81327-2F96-6110-68BC-588E18127B7D}"/>
              </a:ext>
            </a:extLst>
          </p:cNvPr>
          <p:cNvSpPr/>
          <p:nvPr/>
        </p:nvSpPr>
        <p:spPr>
          <a:xfrm>
            <a:off x="12291351" y="4837323"/>
            <a:ext cx="6733248" cy="93495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）缺乏指数敏感度的量级直觉：会代公式计算结果，但不会估算：面对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势垒宽度加倍，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变为多少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这类问题，倾向于仅算出结果，而非意识到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将下降约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个数量级。</a:t>
            </a:r>
          </a:p>
        </p:txBody>
      </p:sp>
    </p:spTree>
    <p:extLst>
      <p:ext uri="{BB962C8B-B14F-4D97-AF65-F5344CB8AC3E}">
        <p14:creationId xmlns:p14="http://schemas.microsoft.com/office/powerpoint/2010/main" val="752605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59F25F-3023-9EE0-2CDE-1C18860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1236213" y="-1479005"/>
            <a:ext cx="6251788" cy="162046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268000" y="7178915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2FAFF5-CD23-A918-0DC1-776ADCEE4C7C}"/>
              </a:ext>
            </a:extLst>
          </p:cNvPr>
          <p:cNvSpPr/>
          <p:nvPr/>
        </p:nvSpPr>
        <p:spPr>
          <a:xfrm rot="20400000">
            <a:off x="-3475561" y="-1111092"/>
            <a:ext cx="14250906" cy="3266175"/>
          </a:xfrm>
          <a:prstGeom prst="rect">
            <a:avLst/>
          </a:prstGeom>
          <a:gradFill>
            <a:gsLst>
              <a:gs pos="94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-5034027" y="1358899"/>
            <a:ext cx="4780248" cy="4541387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91"/>
          <a:stretch/>
        </p:blipFill>
        <p:spPr>
          <a:xfrm>
            <a:off x="5268000" y="7188117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847017-82C4-9C38-9071-160F957F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7450" y="3464798"/>
            <a:ext cx="3610704" cy="2148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7689-8073-2883-38A1-991CB1AC6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5477" y="3466305"/>
            <a:ext cx="3600000" cy="214348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B3A0CDA-6120-E8D5-B56B-A3329761AD99}"/>
              </a:ext>
            </a:extLst>
          </p:cNvPr>
          <p:cNvSpPr/>
          <p:nvPr/>
        </p:nvSpPr>
        <p:spPr>
          <a:xfrm rot="20400000" flipH="1" flipV="1">
            <a:off x="-1019724" y="2671610"/>
            <a:ext cx="15536396" cy="7539389"/>
          </a:xfrm>
          <a:prstGeom prst="rect">
            <a:avLst/>
          </a:prstGeom>
          <a:gradFill>
            <a:gsLst>
              <a:gs pos="96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F2B5FD-0D54-5521-0084-12F89379340F}"/>
              </a:ext>
            </a:extLst>
          </p:cNvPr>
          <p:cNvSpPr/>
          <p:nvPr/>
        </p:nvSpPr>
        <p:spPr>
          <a:xfrm>
            <a:off x="5458752" y="1821285"/>
            <a:ext cx="6733248" cy="934952"/>
          </a:xfrm>
          <a:prstGeom prst="rect">
            <a:avLst/>
          </a:prstGeom>
          <a:solidFill>
            <a:srgbClr val="94A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）复数行波的方向辨识困难：分不清</a:t>
            </a:r>
            <a:r>
              <a:rPr lang="en-US" altLang="zh-CN" kern="1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哪一个是入射波、哪一个是反射波，根因是未建立“相位随时间的移动方向决定传播方向”这一观念。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8D111C-B225-9AF1-64E5-3485471F7850}"/>
              </a:ext>
            </a:extLst>
          </p:cNvPr>
          <p:cNvSpPr/>
          <p:nvPr/>
        </p:nvSpPr>
        <p:spPr>
          <a:xfrm>
            <a:off x="5458007" y="2826631"/>
            <a:ext cx="6733248" cy="934952"/>
          </a:xfrm>
          <a:prstGeom prst="rect">
            <a:avLst/>
          </a:prstGeom>
          <a:solidFill>
            <a:srgbClr val="C0D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）把“衰减”理解为“衰减到零”：一旦承认“衰减但非零”，隧穿的存在性就是显然的；反之，若认定“衰减即归零”，则无论给出什么公式，学生都只会死记结论。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2A6B43-8E01-8802-8B13-CE1243917C48}"/>
              </a:ext>
            </a:extLst>
          </p:cNvPr>
          <p:cNvSpPr/>
          <p:nvPr/>
        </p:nvSpPr>
        <p:spPr>
          <a:xfrm>
            <a:off x="12291351" y="3831977"/>
            <a:ext cx="6733248" cy="934952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）代数消元过程冗长导致认知放弃：由四个边界条件方程消元得到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的表达式，中间步骤较多；学习者常在此处掉队，转而放弃理解，导致后续无法迁移。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D81327-2F96-6110-68BC-588E18127B7D}"/>
              </a:ext>
            </a:extLst>
          </p:cNvPr>
          <p:cNvSpPr/>
          <p:nvPr/>
        </p:nvSpPr>
        <p:spPr>
          <a:xfrm>
            <a:off x="12291351" y="4837323"/>
            <a:ext cx="6733248" cy="93495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）缺乏指数敏感度的量级直觉：会代公式计算结果，但不会估算：面对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势垒宽度加倍，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变为多少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这类问题，倾向于仅算出结果，而非意识到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将下降约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个数量级。</a:t>
            </a:r>
          </a:p>
        </p:txBody>
      </p:sp>
    </p:spTree>
    <p:extLst>
      <p:ext uri="{BB962C8B-B14F-4D97-AF65-F5344CB8AC3E}">
        <p14:creationId xmlns:p14="http://schemas.microsoft.com/office/powerpoint/2010/main" val="602993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59F25F-3023-9EE0-2CDE-1C18860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144565" y="-4472755"/>
            <a:ext cx="6251788" cy="162046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268000" y="7178915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2FAFF5-CD23-A918-0DC1-776ADCEE4C7C}"/>
              </a:ext>
            </a:extLst>
          </p:cNvPr>
          <p:cNvSpPr/>
          <p:nvPr/>
        </p:nvSpPr>
        <p:spPr>
          <a:xfrm rot="20400000">
            <a:off x="-3475561" y="-1111092"/>
            <a:ext cx="14250906" cy="3266175"/>
          </a:xfrm>
          <a:prstGeom prst="rect">
            <a:avLst/>
          </a:prstGeom>
          <a:gradFill>
            <a:gsLst>
              <a:gs pos="94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-5034027" y="1358899"/>
            <a:ext cx="4780248" cy="4541387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91"/>
          <a:stretch/>
        </p:blipFill>
        <p:spPr>
          <a:xfrm>
            <a:off x="5268000" y="7188117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847017-82C4-9C38-9071-160F957F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7450" y="3464798"/>
            <a:ext cx="3610704" cy="2148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7689-8073-2883-38A1-991CB1AC6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5477" y="3466305"/>
            <a:ext cx="3600000" cy="214348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B3A0CDA-6120-E8D5-B56B-A3329761AD99}"/>
              </a:ext>
            </a:extLst>
          </p:cNvPr>
          <p:cNvSpPr/>
          <p:nvPr/>
        </p:nvSpPr>
        <p:spPr>
          <a:xfrm rot="20400000" flipH="1" flipV="1">
            <a:off x="-997047" y="2327539"/>
            <a:ext cx="15536396" cy="7539389"/>
          </a:xfrm>
          <a:prstGeom prst="rect">
            <a:avLst/>
          </a:prstGeom>
          <a:gradFill>
            <a:gsLst>
              <a:gs pos="96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F2B5FD-0D54-5521-0084-12F89379340F}"/>
              </a:ext>
            </a:extLst>
          </p:cNvPr>
          <p:cNvSpPr/>
          <p:nvPr/>
        </p:nvSpPr>
        <p:spPr>
          <a:xfrm>
            <a:off x="5458752" y="1821285"/>
            <a:ext cx="6733248" cy="934952"/>
          </a:xfrm>
          <a:prstGeom prst="rect">
            <a:avLst/>
          </a:prstGeom>
          <a:solidFill>
            <a:srgbClr val="94A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）复数行波的方向辨识困难：分不清</a:t>
            </a:r>
            <a:r>
              <a:rPr lang="en-US" altLang="zh-CN" kern="1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哪一个是入射波、哪一个是反射波，根因是未建立“相位随时间的移动方向决定传播方向”这一观念。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8D111C-B225-9AF1-64E5-3485471F7850}"/>
              </a:ext>
            </a:extLst>
          </p:cNvPr>
          <p:cNvSpPr/>
          <p:nvPr/>
        </p:nvSpPr>
        <p:spPr>
          <a:xfrm>
            <a:off x="5451864" y="2826631"/>
            <a:ext cx="6733248" cy="934952"/>
          </a:xfrm>
          <a:prstGeom prst="rect">
            <a:avLst/>
          </a:prstGeom>
          <a:solidFill>
            <a:srgbClr val="C0D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）把“衰减”理解为“衰减到零”：一旦承认“衰减但非零”，隧穿的存在性就是显然的；反之，若认定“衰减即归零”，则无论给出什么公式，学生都只会死记结论。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2A6B43-8E01-8802-8B13-CE1243917C48}"/>
              </a:ext>
            </a:extLst>
          </p:cNvPr>
          <p:cNvSpPr/>
          <p:nvPr/>
        </p:nvSpPr>
        <p:spPr>
          <a:xfrm>
            <a:off x="5451863" y="3831977"/>
            <a:ext cx="6733248" cy="934952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）代数消元过程冗长导致认知放弃：由四个边界条件方程消元得到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的表达式，中间步骤较多；学习者常在此处掉队，转而放弃理解，导致后续无法迁移。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D81327-2F96-6110-68BC-588E18127B7D}"/>
              </a:ext>
            </a:extLst>
          </p:cNvPr>
          <p:cNvSpPr/>
          <p:nvPr/>
        </p:nvSpPr>
        <p:spPr>
          <a:xfrm>
            <a:off x="12291351" y="4837323"/>
            <a:ext cx="6733248" cy="93495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）缺乏指数敏感度的量级直觉：会代公式计算结果，但不会估算：面对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势垒宽度加倍，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变为多少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这类问题，倾向于仅算出结果，而非意识到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将下降约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个数量级。</a:t>
            </a:r>
          </a:p>
        </p:txBody>
      </p:sp>
    </p:spTree>
    <p:extLst>
      <p:ext uri="{BB962C8B-B14F-4D97-AF65-F5344CB8AC3E}">
        <p14:creationId xmlns:p14="http://schemas.microsoft.com/office/powerpoint/2010/main" val="3915917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59F25F-3023-9EE0-2CDE-1C18860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-9086" y="-4808239"/>
            <a:ext cx="6251788" cy="162046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DE7AF8-D475-75E9-C3C6-D828F8B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268000" y="7178915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2FAFF5-CD23-A918-0DC1-776ADCEE4C7C}"/>
              </a:ext>
            </a:extLst>
          </p:cNvPr>
          <p:cNvSpPr/>
          <p:nvPr/>
        </p:nvSpPr>
        <p:spPr>
          <a:xfrm rot="20400000">
            <a:off x="-3475561" y="-1111092"/>
            <a:ext cx="14250906" cy="3266175"/>
          </a:xfrm>
          <a:prstGeom prst="rect">
            <a:avLst/>
          </a:prstGeom>
          <a:gradFill>
            <a:gsLst>
              <a:gs pos="94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39A256F7-1585-CE0F-C1B1-FF2E7535C51E}"/>
              </a:ext>
            </a:extLst>
          </p:cNvPr>
          <p:cNvSpPr/>
          <p:nvPr/>
        </p:nvSpPr>
        <p:spPr>
          <a:xfrm>
            <a:off x="-5034027" y="1358899"/>
            <a:ext cx="4780248" cy="4541387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394CF8E2-9E0C-9B34-043A-E84CD589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91"/>
          <a:stretch/>
        </p:blipFill>
        <p:spPr>
          <a:xfrm>
            <a:off x="5268000" y="7188117"/>
            <a:ext cx="1656000" cy="2577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847017-82C4-9C38-9071-160F957F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7450" y="3464798"/>
            <a:ext cx="3610704" cy="2148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F7689-8073-2883-38A1-991CB1AC6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5477" y="3466305"/>
            <a:ext cx="3600000" cy="2143487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B3A0CDA-6120-E8D5-B56B-A3329761AD99}"/>
              </a:ext>
            </a:extLst>
          </p:cNvPr>
          <p:cNvSpPr/>
          <p:nvPr/>
        </p:nvSpPr>
        <p:spPr>
          <a:xfrm rot="20400000" flipH="1" flipV="1">
            <a:off x="-491751" y="3648542"/>
            <a:ext cx="15536396" cy="7539389"/>
          </a:xfrm>
          <a:prstGeom prst="rect">
            <a:avLst/>
          </a:prstGeom>
          <a:gradFill>
            <a:gsLst>
              <a:gs pos="96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F2B5FD-0D54-5521-0084-12F89379340F}"/>
              </a:ext>
            </a:extLst>
          </p:cNvPr>
          <p:cNvSpPr/>
          <p:nvPr/>
        </p:nvSpPr>
        <p:spPr>
          <a:xfrm>
            <a:off x="5458752" y="1821285"/>
            <a:ext cx="6733248" cy="934952"/>
          </a:xfrm>
          <a:prstGeom prst="rect">
            <a:avLst/>
          </a:prstGeom>
          <a:solidFill>
            <a:srgbClr val="94A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）复数行波的方向辨识困难：分不清</a:t>
            </a:r>
            <a:r>
              <a:rPr lang="en-US" altLang="zh-CN" kern="1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kern="100" baseline="300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100" baseline="30000" dirty="0" err="1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哪一个是入射波、哪一个是反射波，根因是未建立“相位随时间的移动方向决定传播方向”这一观念。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8D111C-B225-9AF1-64E5-3485471F7850}"/>
              </a:ext>
            </a:extLst>
          </p:cNvPr>
          <p:cNvSpPr/>
          <p:nvPr/>
        </p:nvSpPr>
        <p:spPr>
          <a:xfrm>
            <a:off x="5458730" y="2826631"/>
            <a:ext cx="6733248" cy="934952"/>
          </a:xfrm>
          <a:prstGeom prst="rect">
            <a:avLst/>
          </a:prstGeom>
          <a:solidFill>
            <a:srgbClr val="C0D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）把“衰减”理解为“衰减到零”：一旦承认“衰减但非零”，隧穿的存在性就是显然的；反之，若认定“衰减即归零”，则无论给出什么公式，学生都只会死记结论。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2A6B43-8E01-8802-8B13-CE1243917C48}"/>
              </a:ext>
            </a:extLst>
          </p:cNvPr>
          <p:cNvSpPr/>
          <p:nvPr/>
        </p:nvSpPr>
        <p:spPr>
          <a:xfrm>
            <a:off x="5458729" y="3831977"/>
            <a:ext cx="6733248" cy="934952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）代数消元过程冗长导致认知放弃：由四个边界条件方程消元得到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的表达式，中间步骤较多；学习者常在此处掉队，转而放弃理解，导致后续无法迁移。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D81327-2F96-6110-68BC-588E18127B7D}"/>
              </a:ext>
            </a:extLst>
          </p:cNvPr>
          <p:cNvSpPr/>
          <p:nvPr/>
        </p:nvSpPr>
        <p:spPr>
          <a:xfrm>
            <a:off x="5458729" y="4837323"/>
            <a:ext cx="6733248" cy="93495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）缺乏指数敏感度的量级直觉：会代公式计算结果，但不会估算：面对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势垒宽度加倍，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变为多少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 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这类问题，倾向于仅算出结果，而非意识到</a:t>
            </a:r>
            <a:r>
              <a:rPr lang="en-US" altLang="zh-CN" i="1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将下降约</a:t>
            </a:r>
            <a:r>
              <a: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个数量级。</a:t>
            </a:r>
          </a:p>
        </p:txBody>
      </p:sp>
    </p:spTree>
    <p:extLst>
      <p:ext uri="{BB962C8B-B14F-4D97-AF65-F5344CB8AC3E}">
        <p14:creationId xmlns:p14="http://schemas.microsoft.com/office/powerpoint/2010/main" val="1557117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59F25F-3023-9EE0-2CDE-1C18860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-4928090" y="-16492043"/>
            <a:ext cx="6251788" cy="1620469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92FAFF5-CD23-A918-0DC1-776ADCEE4C7C}"/>
              </a:ext>
            </a:extLst>
          </p:cNvPr>
          <p:cNvSpPr/>
          <p:nvPr/>
        </p:nvSpPr>
        <p:spPr>
          <a:xfrm rot="20400000">
            <a:off x="-5291661" y="-4672285"/>
            <a:ext cx="14250906" cy="3266175"/>
          </a:xfrm>
          <a:prstGeom prst="rect">
            <a:avLst/>
          </a:prstGeom>
          <a:gradFill>
            <a:gsLst>
              <a:gs pos="94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B3A0CDA-6120-E8D5-B56B-A3329761AD99}"/>
              </a:ext>
            </a:extLst>
          </p:cNvPr>
          <p:cNvSpPr/>
          <p:nvPr/>
        </p:nvSpPr>
        <p:spPr>
          <a:xfrm rot="20400000" flipH="1" flipV="1">
            <a:off x="3216647" y="8792213"/>
            <a:ext cx="15536396" cy="7539389"/>
          </a:xfrm>
          <a:prstGeom prst="rect">
            <a:avLst/>
          </a:prstGeom>
          <a:gradFill>
            <a:gsLst>
              <a:gs pos="9600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F91D63-DFD7-95D8-D178-D79C46CAD241}"/>
              </a:ext>
            </a:extLst>
          </p:cNvPr>
          <p:cNvSpPr/>
          <p:nvPr/>
        </p:nvSpPr>
        <p:spPr>
          <a:xfrm>
            <a:off x="2212477" y="-509234"/>
            <a:ext cx="1405138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数据回收情况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79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6">
            <a:extLst>
              <a:ext uri="{FF2B5EF4-FFF2-40B4-BE49-F238E27FC236}">
                <a16:creationId xmlns:a16="http://schemas.microsoft.com/office/drawing/2014/main" id="{BD314763-5FF4-2E0C-D26F-17C5EEB271DC}"/>
              </a:ext>
            </a:extLst>
          </p:cNvPr>
          <p:cNvSpPr/>
          <p:nvPr/>
        </p:nvSpPr>
        <p:spPr>
          <a:xfrm>
            <a:off x="-1817879" y="1358898"/>
            <a:ext cx="14009879" cy="4541388"/>
          </a:xfrm>
          <a:prstGeom prst="roundRect">
            <a:avLst>
              <a:gd name="adj" fmla="val 0"/>
            </a:avLst>
          </a:prstGeom>
          <a:solidFill>
            <a:srgbClr val="00529B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学情分析与教学目标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0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626FCE-6766-C0B9-B0CD-4DD71F54F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733528"/>
              </p:ext>
            </p:extLst>
          </p:nvPr>
        </p:nvGraphicFramePr>
        <p:xfrm>
          <a:off x="-5573486" y="1281853"/>
          <a:ext cx="5406571" cy="1524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285">
                  <a:extLst>
                    <a:ext uri="{9D8B030D-6E8A-4147-A177-3AD203B41FA5}">
                      <a16:colId xmlns:a16="http://schemas.microsoft.com/office/drawing/2014/main" val="2821327492"/>
                    </a:ext>
                  </a:extLst>
                </a:gridCol>
                <a:gridCol w="500570">
                  <a:extLst>
                    <a:ext uri="{9D8B030D-6E8A-4147-A177-3AD203B41FA5}">
                      <a16:colId xmlns:a16="http://schemas.microsoft.com/office/drawing/2014/main" val="1724624468"/>
                    </a:ext>
                  </a:extLst>
                </a:gridCol>
                <a:gridCol w="503974">
                  <a:extLst>
                    <a:ext uri="{9D8B030D-6E8A-4147-A177-3AD203B41FA5}">
                      <a16:colId xmlns:a16="http://schemas.microsoft.com/office/drawing/2014/main" val="3693874021"/>
                    </a:ext>
                  </a:extLst>
                </a:gridCol>
                <a:gridCol w="1020000">
                  <a:extLst>
                    <a:ext uri="{9D8B030D-6E8A-4147-A177-3AD203B41FA5}">
                      <a16:colId xmlns:a16="http://schemas.microsoft.com/office/drawing/2014/main" val="2058003808"/>
                    </a:ext>
                  </a:extLst>
                </a:gridCol>
                <a:gridCol w="2278742">
                  <a:extLst>
                    <a:ext uri="{9D8B030D-6E8A-4147-A177-3AD203B41FA5}">
                      <a16:colId xmlns:a16="http://schemas.microsoft.com/office/drawing/2014/main" val="2062691692"/>
                    </a:ext>
                  </a:extLst>
                </a:gridCol>
              </a:tblGrid>
              <a:tr h="351451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施测介质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发放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有效配对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备注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74396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微信小程序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系统自动导出选项与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配对学号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024699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纸质问卷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人工录入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Excel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，录入后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双人核对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90105"/>
                  </a:ext>
                </a:extLst>
              </a:tr>
              <a:tr h="236738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合计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97.1%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，配对率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100%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27195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55F5BC8-B1F5-9C1C-C8DF-6B1961D84C90}"/>
              </a:ext>
            </a:extLst>
          </p:cNvPr>
          <p:cNvSpPr/>
          <p:nvPr/>
        </p:nvSpPr>
        <p:spPr>
          <a:xfrm>
            <a:off x="-3781923" y="2792771"/>
            <a:ext cx="1405138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数据回收情况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78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71E1EDF-C3F9-F983-7993-8CE92B5272D8}"/>
              </a:ext>
            </a:extLst>
          </p:cNvPr>
          <p:cNvSpPr/>
          <p:nvPr/>
        </p:nvSpPr>
        <p:spPr>
          <a:xfrm>
            <a:off x="3465380" y="3747708"/>
            <a:ext cx="6028322" cy="314638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000A02-A4CD-A8FC-AAFB-89E311A13758}"/>
              </a:ext>
            </a:extLst>
          </p:cNvPr>
          <p:cNvSpPr/>
          <p:nvPr/>
        </p:nvSpPr>
        <p:spPr>
          <a:xfrm>
            <a:off x="3465380" y="4060924"/>
            <a:ext cx="3789625" cy="31634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1F0E0F-8FF3-0FF7-844B-9400EB2B9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620001"/>
              </p:ext>
            </p:extLst>
          </p:nvPr>
        </p:nvGraphicFramePr>
        <p:xfrm>
          <a:off x="3011714" y="1281853"/>
          <a:ext cx="5406571" cy="1524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285">
                  <a:extLst>
                    <a:ext uri="{9D8B030D-6E8A-4147-A177-3AD203B41FA5}">
                      <a16:colId xmlns:a16="http://schemas.microsoft.com/office/drawing/2014/main" val="2821327492"/>
                    </a:ext>
                  </a:extLst>
                </a:gridCol>
                <a:gridCol w="500570">
                  <a:extLst>
                    <a:ext uri="{9D8B030D-6E8A-4147-A177-3AD203B41FA5}">
                      <a16:colId xmlns:a16="http://schemas.microsoft.com/office/drawing/2014/main" val="1724624468"/>
                    </a:ext>
                  </a:extLst>
                </a:gridCol>
                <a:gridCol w="503974">
                  <a:extLst>
                    <a:ext uri="{9D8B030D-6E8A-4147-A177-3AD203B41FA5}">
                      <a16:colId xmlns:a16="http://schemas.microsoft.com/office/drawing/2014/main" val="3693874021"/>
                    </a:ext>
                  </a:extLst>
                </a:gridCol>
                <a:gridCol w="1020000">
                  <a:extLst>
                    <a:ext uri="{9D8B030D-6E8A-4147-A177-3AD203B41FA5}">
                      <a16:colId xmlns:a16="http://schemas.microsoft.com/office/drawing/2014/main" val="2058003808"/>
                    </a:ext>
                  </a:extLst>
                </a:gridCol>
                <a:gridCol w="2278742">
                  <a:extLst>
                    <a:ext uri="{9D8B030D-6E8A-4147-A177-3AD203B41FA5}">
                      <a16:colId xmlns:a16="http://schemas.microsoft.com/office/drawing/2014/main" val="2062691692"/>
                    </a:ext>
                  </a:extLst>
                </a:gridCol>
              </a:tblGrid>
              <a:tr h="351451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施测介质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发放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有效配对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备注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74396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微信小程序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系统自动导出选项与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配对学号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024699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纸质问卷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人工录入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Excel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，录入后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双人核对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90105"/>
                  </a:ext>
                </a:extLst>
              </a:tr>
              <a:tr h="236738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合计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97.1%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，配对率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100%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27195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教学效果检验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C2D64023-4D4B-5E5F-CC1D-183D1F9DE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989" y="-3395401"/>
            <a:ext cx="3968954" cy="317516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9999749-71F7-A117-B524-857806A51503}"/>
              </a:ext>
            </a:extLst>
          </p:cNvPr>
          <p:cNvSpPr/>
          <p:nvPr/>
        </p:nvSpPr>
        <p:spPr>
          <a:xfrm>
            <a:off x="4803277" y="2754671"/>
            <a:ext cx="1405138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数据回收情况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2EDE9FB-6CE5-B1C9-2945-559196DC8D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567730"/>
              </p:ext>
            </p:extLst>
          </p:nvPr>
        </p:nvGraphicFramePr>
        <p:xfrm>
          <a:off x="1118555" y="3438561"/>
          <a:ext cx="9227712" cy="2204720"/>
        </p:xfrm>
        <a:graphic>
          <a:graphicData uri="http://schemas.openxmlformats.org/drawingml/2006/table">
            <a:tbl>
              <a:tblPr/>
              <a:tblGrid>
                <a:gridCol w="2344312">
                  <a:extLst>
                    <a:ext uri="{9D8B030D-6E8A-4147-A177-3AD203B41FA5}">
                      <a16:colId xmlns:a16="http://schemas.microsoft.com/office/drawing/2014/main" val="2361311014"/>
                    </a:ext>
                  </a:extLst>
                </a:gridCol>
                <a:gridCol w="6883400">
                  <a:extLst>
                    <a:ext uri="{9D8B030D-6E8A-4147-A177-3AD203B41FA5}">
                      <a16:colId xmlns:a16="http://schemas.microsoft.com/office/drawing/2014/main" val="1514801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数值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78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前测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55.1%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250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后测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87.2%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7761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369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996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平均增值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+32.1 </a:t>
                      </a:r>
                      <a:r>
                        <a:rPr lang="zh-CN" altLang="en-US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个百分点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435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 </a:t>
                      </a:r>
                      <a:r>
                        <a:rPr lang="en-US" altLang="zh-CN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80% </a:t>
                      </a:r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阈值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7/9</a:t>
                      </a:r>
                      <a:r>
                        <a:rPr lang="zh-CN" altLang="en-US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题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594308"/>
                  </a:ext>
                </a:extLst>
              </a:tr>
            </a:tbl>
          </a:graphicData>
        </a:graphic>
      </p:graphicFrame>
      <p:graphicFrame>
        <p:nvGraphicFramePr>
          <p:cNvPr id="23" name="图表 22">
            <a:extLst>
              <a:ext uri="{FF2B5EF4-FFF2-40B4-BE49-F238E27FC236}">
                <a16:creationId xmlns:a16="http://schemas.microsoft.com/office/drawing/2014/main" id="{44E8D983-72BF-A7D6-2BB1-FF0E8A9719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1005110"/>
              </p:ext>
            </p:extLst>
          </p:nvPr>
        </p:nvGraphicFramePr>
        <p:xfrm>
          <a:off x="3153834" y="3503506"/>
          <a:ext cx="7556500" cy="1794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C3071AEA-7DAB-2803-1E72-BA86DEFF5F7A}"/>
              </a:ext>
            </a:extLst>
          </p:cNvPr>
          <p:cNvSpPr/>
          <p:nvPr/>
        </p:nvSpPr>
        <p:spPr>
          <a:xfrm>
            <a:off x="4012784" y="5748615"/>
            <a:ext cx="3152016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34 </a:t>
            </a:r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份有效配对样本中</a:t>
            </a:r>
            <a:r>
              <a:rPr lang="en-US" altLang="zh-CN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题平均正确率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9E7D4A18-7B98-C033-3B82-95B7CCC9A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79030"/>
              </p:ext>
            </p:extLst>
          </p:nvPr>
        </p:nvGraphicFramePr>
        <p:xfrm>
          <a:off x="12752388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138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420992"/>
              </p:ext>
            </p:extLst>
          </p:nvPr>
        </p:nvGraphicFramePr>
        <p:xfrm>
          <a:off x="3557588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锚题分析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AD547B8-D346-38A2-4F93-7A6CA2BF03B7}"/>
              </a:ext>
            </a:extLst>
          </p:cNvPr>
          <p:cNvSpPr/>
          <p:nvPr/>
        </p:nvSpPr>
        <p:spPr>
          <a:xfrm>
            <a:off x="-7189920" y="3747708"/>
            <a:ext cx="6028322" cy="314638"/>
          </a:xfrm>
          <a:prstGeom prst="rect">
            <a:avLst/>
          </a:prstGeom>
          <a:solidFill>
            <a:srgbClr val="DA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0ECC26-22DC-34A0-BF5E-951B6B82DCF5}"/>
              </a:ext>
            </a:extLst>
          </p:cNvPr>
          <p:cNvSpPr/>
          <p:nvPr/>
        </p:nvSpPr>
        <p:spPr>
          <a:xfrm>
            <a:off x="-7189920" y="4060924"/>
            <a:ext cx="3789625" cy="316342"/>
          </a:xfrm>
          <a:prstGeom prst="rect">
            <a:avLst/>
          </a:prstGeom>
          <a:solidFill>
            <a:srgbClr val="EBC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77E8872-2826-034D-D67A-B16662D89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674813"/>
              </p:ext>
            </p:extLst>
          </p:nvPr>
        </p:nvGraphicFramePr>
        <p:xfrm>
          <a:off x="-7643586" y="1281853"/>
          <a:ext cx="5406571" cy="1524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285">
                  <a:extLst>
                    <a:ext uri="{9D8B030D-6E8A-4147-A177-3AD203B41FA5}">
                      <a16:colId xmlns:a16="http://schemas.microsoft.com/office/drawing/2014/main" val="2821327492"/>
                    </a:ext>
                  </a:extLst>
                </a:gridCol>
                <a:gridCol w="500570">
                  <a:extLst>
                    <a:ext uri="{9D8B030D-6E8A-4147-A177-3AD203B41FA5}">
                      <a16:colId xmlns:a16="http://schemas.microsoft.com/office/drawing/2014/main" val="1724624468"/>
                    </a:ext>
                  </a:extLst>
                </a:gridCol>
                <a:gridCol w="503974">
                  <a:extLst>
                    <a:ext uri="{9D8B030D-6E8A-4147-A177-3AD203B41FA5}">
                      <a16:colId xmlns:a16="http://schemas.microsoft.com/office/drawing/2014/main" val="3693874021"/>
                    </a:ext>
                  </a:extLst>
                </a:gridCol>
                <a:gridCol w="1020000">
                  <a:extLst>
                    <a:ext uri="{9D8B030D-6E8A-4147-A177-3AD203B41FA5}">
                      <a16:colId xmlns:a16="http://schemas.microsoft.com/office/drawing/2014/main" val="2058003808"/>
                    </a:ext>
                  </a:extLst>
                </a:gridCol>
                <a:gridCol w="2278742">
                  <a:extLst>
                    <a:ext uri="{9D8B030D-6E8A-4147-A177-3AD203B41FA5}">
                      <a16:colId xmlns:a16="http://schemas.microsoft.com/office/drawing/2014/main" val="2062691692"/>
                    </a:ext>
                  </a:extLst>
                </a:gridCol>
              </a:tblGrid>
              <a:tr h="351451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施测介质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发放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有效配对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备注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74396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微信小程序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系统自动导出选项与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配对学号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024699"/>
                  </a:ext>
                </a:extLst>
              </a:tr>
              <a:tr h="467906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纸质问卷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人工录入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Excel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，录入后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双人核对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90105"/>
                  </a:ext>
                </a:extLst>
              </a:tr>
              <a:tr h="236738">
                <a:tc>
                  <a:txBody>
                    <a:bodyPr/>
                    <a:lstStyle/>
                    <a:p>
                      <a:pPr algn="ctr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合计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回收率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97.1%</a:t>
                      </a:r>
                      <a:r>
                        <a:rPr lang="zh-CN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，配对率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100%</a:t>
                      </a:r>
                      <a:endParaRPr lang="zh-CN" sz="140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2719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2D42676-E99A-48FA-5340-0CD4097BCEEA}"/>
              </a:ext>
            </a:extLst>
          </p:cNvPr>
          <p:cNvSpPr/>
          <p:nvPr/>
        </p:nvSpPr>
        <p:spPr>
          <a:xfrm>
            <a:off x="-5852023" y="2754671"/>
            <a:ext cx="1405138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数据回收情况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CE9408E-ECCD-1C9B-1A29-211F8BB4CC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2853011"/>
              </p:ext>
            </p:extLst>
          </p:nvPr>
        </p:nvGraphicFramePr>
        <p:xfrm>
          <a:off x="-9536745" y="3438561"/>
          <a:ext cx="9227712" cy="2204720"/>
        </p:xfrm>
        <a:graphic>
          <a:graphicData uri="http://schemas.openxmlformats.org/drawingml/2006/table">
            <a:tbl>
              <a:tblPr/>
              <a:tblGrid>
                <a:gridCol w="2344312">
                  <a:extLst>
                    <a:ext uri="{9D8B030D-6E8A-4147-A177-3AD203B41FA5}">
                      <a16:colId xmlns:a16="http://schemas.microsoft.com/office/drawing/2014/main" val="2361311014"/>
                    </a:ext>
                  </a:extLst>
                </a:gridCol>
                <a:gridCol w="6883400">
                  <a:extLst>
                    <a:ext uri="{9D8B030D-6E8A-4147-A177-3AD203B41FA5}">
                      <a16:colId xmlns:a16="http://schemas.microsoft.com/office/drawing/2014/main" val="1514801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数值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78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前测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55.1%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250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后测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87.2%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7761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369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996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平均增值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+32.1 </a:t>
                      </a:r>
                      <a:r>
                        <a:rPr lang="zh-CN" altLang="en-US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个百分点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435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 </a:t>
                      </a:r>
                      <a:r>
                        <a:rPr lang="en-US" altLang="zh-CN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80% </a:t>
                      </a:r>
                      <a:r>
                        <a:rPr lang="zh-CN" altLang="en-US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阈值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7/9</a:t>
                      </a:r>
                      <a:r>
                        <a:rPr lang="zh-CN" altLang="en-US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题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594308"/>
                  </a:ext>
                </a:extLst>
              </a:tr>
            </a:tbl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7F9C22D3-BF4C-9E23-2287-6C3B6959B8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02032"/>
              </p:ext>
            </p:extLst>
          </p:nvPr>
        </p:nvGraphicFramePr>
        <p:xfrm>
          <a:off x="-7501466" y="3503506"/>
          <a:ext cx="7556500" cy="1794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E6C8006-5F4B-0801-81C4-629A63E02781}"/>
              </a:ext>
            </a:extLst>
          </p:cNvPr>
          <p:cNvSpPr/>
          <p:nvPr/>
        </p:nvSpPr>
        <p:spPr>
          <a:xfrm>
            <a:off x="-6642516" y="5748615"/>
            <a:ext cx="3152016" cy="4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34 </a:t>
            </a:r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份有效配对样本中</a:t>
            </a:r>
            <a:r>
              <a:rPr lang="en-US" altLang="zh-CN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题平均正确率</a:t>
            </a:r>
            <a:endParaRPr lang="en-US" altLang="zh-CN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4745689-1B7E-BCBC-926E-8FBD4A9484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" b="40083"/>
          <a:stretch/>
        </p:blipFill>
        <p:spPr>
          <a:xfrm>
            <a:off x="5740399" y="7348379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8783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7EFD0023-F70C-2A9A-8ABA-FAC17E9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5740399" y="-1134136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/>
        </p:nvGraphicFramePr>
        <p:xfrm>
          <a:off x="526516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锚题分析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!!矩形 13">
            <a:extLst>
              <a:ext uri="{FF2B5EF4-FFF2-40B4-BE49-F238E27FC236}">
                <a16:creationId xmlns:a16="http://schemas.microsoft.com/office/drawing/2014/main" id="{97A4BC9E-4AE3-4E81-8537-6BC43A77DA07}"/>
              </a:ext>
            </a:extLst>
          </p:cNvPr>
          <p:cNvSpPr/>
          <p:nvPr/>
        </p:nvSpPr>
        <p:spPr>
          <a:xfrm>
            <a:off x="526516" y="-458476"/>
            <a:ext cx="2656951" cy="394793"/>
          </a:xfrm>
          <a:prstGeom prst="rect">
            <a:avLst/>
          </a:prstGeom>
          <a:noFill/>
          <a:ln>
            <a:solidFill>
              <a:srgbClr val="94AD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6000E-01FC-42DE-AE9A-ECF78F94ADC2}"/>
              </a:ext>
            </a:extLst>
          </p:cNvPr>
          <p:cNvGrpSpPr/>
          <p:nvPr/>
        </p:nvGrpSpPr>
        <p:grpSpPr>
          <a:xfrm>
            <a:off x="5789633" y="7413106"/>
            <a:ext cx="5640367" cy="2761883"/>
            <a:chOff x="5789633" y="2263575"/>
            <a:chExt cx="5640367" cy="276188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F8D05-1BA1-5B7F-EF47-12C58E7CA03D}"/>
                </a:ext>
              </a:extLst>
            </p:cNvPr>
            <p:cNvSpPr/>
            <p:nvPr/>
          </p:nvSpPr>
          <p:spPr>
            <a:xfrm>
              <a:off x="5789633" y="3696940"/>
              <a:ext cx="5640367" cy="1328518"/>
            </a:xfrm>
            <a:prstGeom prst="rect">
              <a:avLst/>
            </a:prstGeom>
            <a:solidFill>
              <a:srgbClr val="94ADCB"/>
            </a:solidFill>
            <a:ln>
              <a:solidFill>
                <a:srgbClr val="94AD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势垒内波函数形式，增值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+45%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意义：这是本微课要纠正的最核心直觉错误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——“E&lt;V₀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时粒子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波函数在势垒内为零”。近半数学生前测持此迷思，后测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86%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能正确识别势垒内为指数衰减但非零解。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结论：视频里“衰减，但不为零”这句注解和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II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区波函数图像的设计被数据验证为有效。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776B1D-1D09-C19C-E653-7207EF6CE21B}"/>
                </a:ext>
              </a:extLst>
            </p:cNvPr>
            <p:cNvSpPr/>
            <p:nvPr/>
          </p:nvSpPr>
          <p:spPr>
            <a:xfrm>
              <a:off x="5789633" y="2263575"/>
              <a:ext cx="5640367" cy="1422378"/>
            </a:xfrm>
            <a:prstGeom prst="rect">
              <a:avLst/>
            </a:prstGeom>
            <a:noFill/>
            <a:ln>
              <a:solidFill>
                <a:srgbClr val="94AD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1602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7EFD0023-F70C-2A9A-8ABA-FAC17E9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5740399" y="-1134136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48964"/>
              </p:ext>
            </p:extLst>
          </p:nvPr>
        </p:nvGraphicFramePr>
        <p:xfrm>
          <a:off x="526516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锚题分析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!!矩形 13">
            <a:extLst>
              <a:ext uri="{FF2B5EF4-FFF2-40B4-BE49-F238E27FC236}">
                <a16:creationId xmlns:a16="http://schemas.microsoft.com/office/drawing/2014/main" id="{97A4BC9E-4AE3-4E81-8537-6BC43A77DA07}"/>
              </a:ext>
            </a:extLst>
          </p:cNvPr>
          <p:cNvSpPr/>
          <p:nvPr/>
        </p:nvSpPr>
        <p:spPr>
          <a:xfrm>
            <a:off x="526516" y="2101849"/>
            <a:ext cx="2656951" cy="394793"/>
          </a:xfrm>
          <a:prstGeom prst="rect">
            <a:avLst/>
          </a:prstGeom>
          <a:noFill/>
          <a:ln>
            <a:solidFill>
              <a:srgbClr val="94AD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6000E-01FC-42DE-AE9A-ECF78F94ADC2}"/>
              </a:ext>
            </a:extLst>
          </p:cNvPr>
          <p:cNvGrpSpPr/>
          <p:nvPr/>
        </p:nvGrpSpPr>
        <p:grpSpPr>
          <a:xfrm>
            <a:off x="5789633" y="2263575"/>
            <a:ext cx="5640367" cy="2761883"/>
            <a:chOff x="5789633" y="2263575"/>
            <a:chExt cx="5640367" cy="276188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F8D05-1BA1-5B7F-EF47-12C58E7CA03D}"/>
                </a:ext>
              </a:extLst>
            </p:cNvPr>
            <p:cNvSpPr/>
            <p:nvPr/>
          </p:nvSpPr>
          <p:spPr>
            <a:xfrm>
              <a:off x="5789633" y="3696940"/>
              <a:ext cx="5640367" cy="1328518"/>
            </a:xfrm>
            <a:prstGeom prst="rect">
              <a:avLst/>
            </a:prstGeom>
            <a:solidFill>
              <a:srgbClr val="94ADCB"/>
            </a:solidFill>
            <a:ln>
              <a:solidFill>
                <a:srgbClr val="94AD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势垒内波函数形式，增值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+45%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意义：这是本微课要纠正的最核心直觉错误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——“E&lt;V₀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时粒子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波函数在势垒内为零”。近半数学生前测持此迷思，后测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86%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能正确识别势垒内为指数衰减但非零解。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结论：视频里“衰减，但不为零”这句注解和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II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区波函数图像的设计被数据验证为有效。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776B1D-1D09-C19C-E653-7207EF6CE21B}"/>
                </a:ext>
              </a:extLst>
            </p:cNvPr>
            <p:cNvSpPr/>
            <p:nvPr/>
          </p:nvSpPr>
          <p:spPr>
            <a:xfrm>
              <a:off x="5789633" y="2263575"/>
              <a:ext cx="5640367" cy="1422378"/>
            </a:xfrm>
            <a:prstGeom prst="rect">
              <a:avLst/>
            </a:prstGeom>
            <a:noFill/>
            <a:ln>
              <a:solidFill>
                <a:srgbClr val="94AD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836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7EFD0023-F70C-2A9A-8ABA-FAC17E9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5740399" y="-4108348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/>
        </p:nvGraphicFramePr>
        <p:xfrm>
          <a:off x="526516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锚题分析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!!矩形 13">
            <a:extLst>
              <a:ext uri="{FF2B5EF4-FFF2-40B4-BE49-F238E27FC236}">
                <a16:creationId xmlns:a16="http://schemas.microsoft.com/office/drawing/2014/main" id="{97A4BC9E-4AE3-4E81-8537-6BC43A77DA07}"/>
              </a:ext>
            </a:extLst>
          </p:cNvPr>
          <p:cNvSpPr/>
          <p:nvPr/>
        </p:nvSpPr>
        <p:spPr>
          <a:xfrm>
            <a:off x="526516" y="3805522"/>
            <a:ext cx="2656951" cy="394793"/>
          </a:xfrm>
          <a:prstGeom prst="rect">
            <a:avLst/>
          </a:prstGeom>
          <a:noFill/>
          <a:ln>
            <a:solidFill>
              <a:srgbClr val="EBC8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6000E-01FC-42DE-AE9A-ECF78F94ADC2}"/>
              </a:ext>
            </a:extLst>
          </p:cNvPr>
          <p:cNvGrpSpPr/>
          <p:nvPr/>
        </p:nvGrpSpPr>
        <p:grpSpPr>
          <a:xfrm>
            <a:off x="5789633" y="2660649"/>
            <a:ext cx="5640367" cy="1885951"/>
            <a:chOff x="5789633" y="3054349"/>
            <a:chExt cx="5640367" cy="18859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F8D05-1BA1-5B7F-EF47-12C58E7CA03D}"/>
                </a:ext>
              </a:extLst>
            </p:cNvPr>
            <p:cNvSpPr/>
            <p:nvPr/>
          </p:nvSpPr>
          <p:spPr>
            <a:xfrm>
              <a:off x="5789633" y="3696940"/>
              <a:ext cx="5640367" cy="1243360"/>
            </a:xfrm>
            <a:prstGeom prst="rect">
              <a:avLst/>
            </a:prstGeom>
            <a:solidFill>
              <a:srgbClr val="EBC8C6"/>
            </a:solidFill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A6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：势垒宽度加倍后透射率变化，增值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+38%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意义：考查“指数敏感”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——a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0.5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加倍到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1.0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2.36%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掉到约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0.014%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，下降约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160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倍，即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2.2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个数量级。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结论：学生能感知“变窄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变宽影响很大”，但精确到“数量级约为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10²”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的推断还不够稳（选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A/B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的学生仍占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21%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）。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79%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与阈值仅差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个百分点，接近达成。</a:t>
              </a:r>
              <a:endPara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776B1D-1D09-C19C-E653-7207EF6CE21B}"/>
                </a:ext>
              </a:extLst>
            </p:cNvPr>
            <p:cNvSpPr/>
            <p:nvPr/>
          </p:nvSpPr>
          <p:spPr>
            <a:xfrm>
              <a:off x="5789633" y="3054349"/>
              <a:ext cx="5640367" cy="631603"/>
            </a:xfrm>
            <a:prstGeom prst="rect">
              <a:avLst/>
            </a:prstGeom>
            <a:noFill/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152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08B88A2-5D06-A317-15A9-C079DAAAC059}"/>
              </a:ext>
            </a:extLst>
          </p:cNvPr>
          <p:cNvSpPr/>
          <p:nvPr/>
        </p:nvSpPr>
        <p:spPr>
          <a:xfrm>
            <a:off x="2446867" y="1270000"/>
            <a:ext cx="7298266" cy="157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图片占位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63B104-8151-0862-7D8A-D8DCF2FBB9A1}"/>
              </a:ext>
            </a:extLst>
          </p:cNvPr>
          <p:cNvSpPr/>
          <p:nvPr/>
        </p:nvSpPr>
        <p:spPr>
          <a:xfrm>
            <a:off x="2446867" y="3019214"/>
            <a:ext cx="7298266" cy="157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图片占位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EFD0023-F70C-2A9A-8ABA-FAC17E9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5740399" y="-9094248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732618"/>
              </p:ext>
            </p:extLst>
          </p:nvPr>
        </p:nvGraphicFramePr>
        <p:xfrm>
          <a:off x="-5219783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开放题</a:t>
            </a:r>
            <a:r>
              <a:rPr lang="en-US" altLang="zh-CN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Q1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摘录</a:t>
            </a: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!!矩形 13">
            <a:extLst>
              <a:ext uri="{FF2B5EF4-FFF2-40B4-BE49-F238E27FC236}">
                <a16:creationId xmlns:a16="http://schemas.microsoft.com/office/drawing/2014/main" id="{97A4BC9E-4AE3-4E81-8537-6BC43A77DA07}"/>
              </a:ext>
            </a:extLst>
          </p:cNvPr>
          <p:cNvSpPr/>
          <p:nvPr/>
        </p:nvSpPr>
        <p:spPr>
          <a:xfrm>
            <a:off x="-5219783" y="3806614"/>
            <a:ext cx="2656951" cy="394793"/>
          </a:xfrm>
          <a:prstGeom prst="rect">
            <a:avLst/>
          </a:prstGeom>
          <a:noFill/>
          <a:ln>
            <a:solidFill>
              <a:srgbClr val="EBC8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6000E-01FC-42DE-AE9A-ECF78F94ADC2}"/>
              </a:ext>
            </a:extLst>
          </p:cNvPr>
          <p:cNvGrpSpPr/>
          <p:nvPr/>
        </p:nvGrpSpPr>
        <p:grpSpPr>
          <a:xfrm>
            <a:off x="5789633" y="-2325251"/>
            <a:ext cx="5640367" cy="1885951"/>
            <a:chOff x="5789633" y="3054349"/>
            <a:chExt cx="5640367" cy="18859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F8D05-1BA1-5B7F-EF47-12C58E7CA03D}"/>
                </a:ext>
              </a:extLst>
            </p:cNvPr>
            <p:cNvSpPr/>
            <p:nvPr/>
          </p:nvSpPr>
          <p:spPr>
            <a:xfrm>
              <a:off x="5789633" y="3696940"/>
              <a:ext cx="5640367" cy="1243360"/>
            </a:xfrm>
            <a:prstGeom prst="rect">
              <a:avLst/>
            </a:prstGeom>
            <a:solidFill>
              <a:srgbClr val="EBC8C6"/>
            </a:solidFill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A6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：势垒宽度加倍后透射率变化，增值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+38%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意义：考查“指数敏感”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——a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0.5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加倍到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1.0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2.36%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掉到约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0.014%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，下降约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160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倍，即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2.2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个数量级。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结论：学生能感知“变窄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变宽影响很大”，但精确到“数量级约为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10²”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的推断还不够稳（选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A/B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的学生仍占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21%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）。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79%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与阈值仅差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个百分点，接近达成。</a:t>
              </a:r>
              <a:endPara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776B1D-1D09-C19C-E653-7207EF6CE21B}"/>
                </a:ext>
              </a:extLst>
            </p:cNvPr>
            <p:cNvSpPr/>
            <p:nvPr/>
          </p:nvSpPr>
          <p:spPr>
            <a:xfrm>
              <a:off x="5789633" y="3054349"/>
              <a:ext cx="5640367" cy="631603"/>
            </a:xfrm>
            <a:prstGeom prst="rect">
              <a:avLst/>
            </a:prstGeom>
            <a:noFill/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6440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08B88A2-5D06-A317-15A9-C079DAAAC059}"/>
              </a:ext>
            </a:extLst>
          </p:cNvPr>
          <p:cNvSpPr/>
          <p:nvPr/>
        </p:nvSpPr>
        <p:spPr>
          <a:xfrm>
            <a:off x="2446867" y="1270000"/>
            <a:ext cx="7298266" cy="157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图片占位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63B104-8151-0862-7D8A-D8DCF2FBB9A1}"/>
              </a:ext>
            </a:extLst>
          </p:cNvPr>
          <p:cNvSpPr/>
          <p:nvPr/>
        </p:nvSpPr>
        <p:spPr>
          <a:xfrm>
            <a:off x="2446867" y="3019214"/>
            <a:ext cx="7298266" cy="157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图片占位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AB96B-F151-D27C-DD53-85A8C4DED068}"/>
              </a:ext>
            </a:extLst>
          </p:cNvPr>
          <p:cNvSpPr/>
          <p:nvPr/>
        </p:nvSpPr>
        <p:spPr>
          <a:xfrm>
            <a:off x="0" y="450003"/>
            <a:ext cx="12192000" cy="6407997"/>
          </a:xfrm>
          <a:prstGeom prst="rect">
            <a:avLst/>
          </a:prstGeom>
          <a:solidFill>
            <a:schemeClr val="tx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EFD0023-F70C-2A9A-8ABA-FAC17E9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2" b="40083"/>
          <a:stretch/>
        </p:blipFill>
        <p:spPr>
          <a:xfrm>
            <a:off x="5740399" y="-9094248"/>
            <a:ext cx="5774211" cy="89883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E3B9B6-0D96-70B2-CC0A-E1EE839760CC}"/>
              </a:ext>
            </a:extLst>
          </p:cNvPr>
          <p:cNvGraphicFramePr>
            <a:graphicFrameLocks noGrp="1"/>
          </p:cNvGraphicFramePr>
          <p:nvPr/>
        </p:nvGraphicFramePr>
        <p:xfrm>
          <a:off x="-5219783" y="1229360"/>
          <a:ext cx="507682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28926255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7001069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849437036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3762478367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6927224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对应题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前测正确率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后测正确率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增值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是否达成（阈值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 80%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233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2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A2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86%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+45%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2504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A3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74%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未达成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3394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A4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+50%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7265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44%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48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A6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+38%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接近（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79%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8411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A7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+12%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达成（天花板）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786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A8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68%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94%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+26%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4869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A9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91%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+21%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达成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5213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L1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3.10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4.30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分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1.2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77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L2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48.00%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84.50%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36.5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是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8578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开放题</a:t>
            </a:r>
            <a:r>
              <a:rPr lang="en-US" altLang="zh-CN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Q1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摘录</a:t>
            </a: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 1">
            <a:extLst>
              <a:ext uri="{FF2B5EF4-FFF2-40B4-BE49-F238E27FC236}">
                <a16:creationId xmlns:a16="http://schemas.microsoft.com/office/drawing/2014/main" id="{2E2C48CF-843C-EE6D-1315-0A0BDEC97CD8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450002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!!矩形 1">
            <a:extLst>
              <a:ext uri="{FF2B5EF4-FFF2-40B4-BE49-F238E27FC236}">
                <a16:creationId xmlns:a16="http://schemas.microsoft.com/office/drawing/2014/main" id="{3B8FF860-BF52-45F5-341A-D3F1AC3FD99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!!矩形 7">
            <a:extLst>
              <a:ext uri="{FF2B5EF4-FFF2-40B4-BE49-F238E27FC236}">
                <a16:creationId xmlns:a16="http://schemas.microsoft.com/office/drawing/2014/main" id="{ECD1E127-1876-4360-1113-FE49F3277D1F}"/>
              </a:ext>
            </a:extLst>
          </p:cNvPr>
          <p:cNvSpPr/>
          <p:nvPr/>
        </p:nvSpPr>
        <p:spPr>
          <a:xfrm>
            <a:off x="9135566" y="0"/>
            <a:ext cx="2082800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!!表格 6">
            <a:extLst>
              <a:ext uri="{FF2B5EF4-FFF2-40B4-BE49-F238E27FC236}">
                <a16:creationId xmlns:a16="http://schemas.microsoft.com/office/drawing/2014/main" id="{A09AF4BB-F866-24DF-377F-160CED6C19E0}"/>
              </a:ext>
            </a:extLst>
          </p:cNvPr>
          <p:cNvGraphicFramePr>
            <a:graphicFrameLocks/>
          </p:cNvGraphicFramePr>
          <p:nvPr/>
        </p:nvGraphicFramePr>
        <p:xfrm>
          <a:off x="393210" y="56650"/>
          <a:ext cx="114055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4274354421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11435637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124969894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3345952210"/>
                    </a:ext>
                  </a:extLst>
                </a:gridCol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选题缘起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理论基础</a:t>
                      </a:r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	</a:t>
                      </a:r>
                      <a:endParaRPr lang="zh-CN" altLang="en-US" b="0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03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微视频创作过程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结论及附录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!!矩形 13">
            <a:extLst>
              <a:ext uri="{FF2B5EF4-FFF2-40B4-BE49-F238E27FC236}">
                <a16:creationId xmlns:a16="http://schemas.microsoft.com/office/drawing/2014/main" id="{97A4BC9E-4AE3-4E81-8537-6BC43A77DA07}"/>
              </a:ext>
            </a:extLst>
          </p:cNvPr>
          <p:cNvSpPr/>
          <p:nvPr/>
        </p:nvSpPr>
        <p:spPr>
          <a:xfrm>
            <a:off x="-5219783" y="3806614"/>
            <a:ext cx="2656951" cy="394793"/>
          </a:xfrm>
          <a:prstGeom prst="rect">
            <a:avLst/>
          </a:prstGeom>
          <a:noFill/>
          <a:ln>
            <a:solidFill>
              <a:srgbClr val="EBC8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6000E-01FC-42DE-AE9A-ECF78F94ADC2}"/>
              </a:ext>
            </a:extLst>
          </p:cNvPr>
          <p:cNvGrpSpPr/>
          <p:nvPr/>
        </p:nvGrpSpPr>
        <p:grpSpPr>
          <a:xfrm>
            <a:off x="5789633" y="-2325251"/>
            <a:ext cx="5640367" cy="1885951"/>
            <a:chOff x="5789633" y="3054349"/>
            <a:chExt cx="5640367" cy="18859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F8D05-1BA1-5B7F-EF47-12C58E7CA03D}"/>
                </a:ext>
              </a:extLst>
            </p:cNvPr>
            <p:cNvSpPr/>
            <p:nvPr/>
          </p:nvSpPr>
          <p:spPr>
            <a:xfrm>
              <a:off x="5789633" y="3696940"/>
              <a:ext cx="5640367" cy="1243360"/>
            </a:xfrm>
            <a:prstGeom prst="rect">
              <a:avLst/>
            </a:prstGeom>
            <a:solidFill>
              <a:srgbClr val="EBC8C6"/>
            </a:solidFill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A6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：势垒宽度加倍后透射率变化，增值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+38%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意义：考查“指数敏感”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——a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0.5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加倍到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1.0 nm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2.36%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掉到约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0.014%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，下降约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160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倍，即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2.2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个数量级。</a:t>
              </a:r>
            </a:p>
            <a:p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结论：学生能感知“变窄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变宽影响很大”，但精确到“数量级约为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10²”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的推断还不够稳（选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A/B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的学生仍占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21%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）。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79%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与阈值仅差</a:t>
              </a:r>
              <a:r>
                <a:rPr lang="en-US" altLang="zh-CN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kern="100" dirty="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个百分点，接近达成。</a:t>
              </a:r>
              <a:endParaRPr lang="en-US" altLang="zh-CN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D776B1D-1D09-C19C-E653-7207EF6CE21B}"/>
                </a:ext>
              </a:extLst>
            </p:cNvPr>
            <p:cNvSpPr/>
            <p:nvPr/>
          </p:nvSpPr>
          <p:spPr>
            <a:xfrm>
              <a:off x="5789633" y="3054349"/>
              <a:ext cx="5640367" cy="631603"/>
            </a:xfrm>
            <a:prstGeom prst="rect">
              <a:avLst/>
            </a:prstGeom>
            <a:noFill/>
            <a:ln>
              <a:solidFill>
                <a:srgbClr val="EBC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A6FFBB1-D63F-8E68-B0ED-A7CB9BF89BD9}"/>
              </a:ext>
            </a:extLst>
          </p:cNvPr>
          <p:cNvSpPr/>
          <p:nvPr/>
        </p:nvSpPr>
        <p:spPr>
          <a:xfrm>
            <a:off x="0" y="2375120"/>
            <a:ext cx="12192000" cy="2111820"/>
          </a:xfrm>
          <a:prstGeom prst="rect">
            <a:avLst/>
          </a:prstGeom>
          <a:solidFill>
            <a:srgbClr val="EBC8C6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质性反馈与量化结果相互印证：</a:t>
            </a:r>
            <a:endParaRPr lang="en-US" altLang="zh-CN" sz="18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学习者最突出的获得感集中在“数理本质可被计算”（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Q2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最高项）与“衰减但不为零”（</a:t>
            </a:r>
            <a:r>
              <a:rPr lang="en-US" altLang="zh-CN" sz="20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Q2</a:t>
            </a:r>
            <a:r>
              <a:rPr lang="zh-CN" altLang="en-US" sz="20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第四项），恰是前言指出现有科普普遍缺位的两点。</a:t>
            </a:r>
            <a:endParaRPr lang="zh-CN" altLang="zh-CN" sz="20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00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2826</Words>
  <Application>Microsoft Office PowerPoint</Application>
  <PresentationFormat>宽屏</PresentationFormat>
  <Paragraphs>672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黑体</vt:lpstr>
      <vt:lpstr>宋体</vt:lpstr>
      <vt:lpstr>Arial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婉夙呈安</dc:creator>
  <cp:lastModifiedBy>呈安 婉夙</cp:lastModifiedBy>
  <cp:revision>16</cp:revision>
  <dcterms:modified xsi:type="dcterms:W3CDTF">2026-09-14T13:26:57Z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{"Label":"1","ContentProducer":"001191110102MACQD9K64010000","ProduceID":"7678698833811901397","ReservedCode1":"","ContentPropagator":"","PropagateID":"","ReservedCode2":""}</vt:lpwstr>
  </property>
</Properties>
</file>
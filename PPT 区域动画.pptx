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88" r:id="rId2"/>
    <p:sldId id="290" r:id="rId3"/>
    <p:sldId id="289" r:id="rId4"/>
    <p:sldId id="291" r:id="rId5"/>
    <p:sldId id="29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50021"/>
    <a:srgbClr val="111111"/>
    <a:srgbClr val="DBE3F0"/>
    <a:srgbClr val="1C1C1C"/>
    <a:srgbClr val="6666FF"/>
    <a:srgbClr val="00009E"/>
    <a:srgbClr val="3A3440"/>
    <a:srgbClr val="FF3B3B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72" autoAdjust="0"/>
    <p:restoredTop sz="95856" autoAdjust="0"/>
  </p:normalViewPr>
  <p:slideViewPr>
    <p:cSldViewPr showGuides="1">
      <p:cViewPr>
        <p:scale>
          <a:sx n="75" d="100"/>
          <a:sy n="75" d="100"/>
        </p:scale>
        <p:origin x="1308" y="772"/>
      </p:cViewPr>
      <p:guideLst>
        <p:guide orient="horz" pos="216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1A8CB-4437-4F73-B623-E6EFA458E144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E1184-7F9E-49CE-9632-7A87F97755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2814" y="368660"/>
            <a:ext cx="10406372" cy="36357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3"/>
            <a:ext cx="10515600" cy="1325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6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6"/>
            <a:ext cx="51831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3"/>
            <a:ext cx="2628900" cy="581184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3"/>
            <a:ext cx="7734300" cy="581184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8E251-97DE-4DAC-B080-31D85883B41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80FE4B7-50AE-836F-C79F-5BA6B0CE3A42}"/>
              </a:ext>
            </a:extLst>
          </p:cNvPr>
          <p:cNvGrpSpPr/>
          <p:nvPr/>
        </p:nvGrpSpPr>
        <p:grpSpPr>
          <a:xfrm>
            <a:off x="-2688976" y="1700808"/>
            <a:ext cx="9051243" cy="4212468"/>
            <a:chOff x="-2688976" y="1700808"/>
            <a:chExt cx="9051243" cy="4212468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2782632" y="1700808"/>
              <a:ext cx="0" cy="421246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-2623630" y="4353319"/>
              <a:ext cx="898589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12" name="任意多边形: 形状 11"/>
            <p:cNvSpPr/>
            <p:nvPr/>
          </p:nvSpPr>
          <p:spPr>
            <a:xfrm>
              <a:off x="2149799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083647" y="3484647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H="1">
              <a:off x="-1824096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06568" y="2746559"/>
              <a:ext cx="316915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890645" y="2749300"/>
              <a:ext cx="358526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9503" y="2746559"/>
              <a:ext cx="451301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-2688976" y="3538647"/>
              <a:ext cx="9000000" cy="0"/>
            </a:xfrm>
            <a:prstGeom prst="line">
              <a:avLst/>
            </a:prstGeom>
            <a:ln w="12700">
              <a:solidFill>
                <a:srgbClr val="0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2136206" y="3540833"/>
              <a:ext cx="295221" cy="569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799685" y="2478523"/>
              <a:ext cx="909348" cy="187469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796226" y="3942227"/>
              <a:ext cx="886506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782632" y="3546527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682732" y="3510523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altLang="zh-CN" sz="1000" dirty="0">
                      <a:solidFill>
                        <a:srgbClr val="000000"/>
                      </a:solidFill>
                    </a:rPr>
                    <a:t>=0.5nm</a:t>
                  </a:r>
                  <a:endParaRPr lang="zh-CN" altLang="en-US" sz="1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2861437" y="2228944"/>
              <a:ext cx="7560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50" i="1" dirty="0">
                  <a:solidFill>
                    <a:srgbClr val="000000"/>
                  </a:solidFill>
                  <a:latin typeface="KaTeX_Math"/>
                </a:rPr>
                <a:t>V</a:t>
              </a:r>
              <a:r>
                <a:rPr lang="zh-CN" altLang="zh-CN" sz="1050" baseline="-25000" dirty="0">
                  <a:solidFill>
                    <a:srgbClr val="000000"/>
                  </a:solidFill>
                  <a:latin typeface="KaTeX_Main"/>
                </a:rPr>
                <a:t>0</a:t>
              </a:r>
              <a:r>
                <a:rPr lang="zh-CN" altLang="zh-CN" sz="1050" dirty="0">
                  <a:solidFill>
                    <a:srgbClr val="000000"/>
                  </a:solidFill>
                  <a:latin typeface="KaTeX_Main"/>
                </a:rPr>
                <a:t>​=2 eV</a:t>
              </a:r>
              <a:endParaRPr lang="zh-CN" altLang="en-US" sz="1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DD8DF2-449E-01E4-9CDB-5497612DEFE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sp>
        <p:nvSpPr>
          <p:cNvPr id="3" name="!!矩形 1">
            <a:extLst>
              <a:ext uri="{FF2B5EF4-FFF2-40B4-BE49-F238E27FC236}">
                <a16:creationId xmlns:a16="http://schemas.microsoft.com/office/drawing/2014/main" id="{8995B3FB-60C2-AF09-E6A9-F99284C6749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!!矩形 7">
            <a:extLst>
              <a:ext uri="{FF2B5EF4-FFF2-40B4-BE49-F238E27FC236}">
                <a16:creationId xmlns:a16="http://schemas.microsoft.com/office/drawing/2014/main" id="{834D3CD1-606A-8088-4DA9-918BA447B529}"/>
              </a:ext>
            </a:extLst>
          </p:cNvPr>
          <p:cNvSpPr/>
          <p:nvPr/>
        </p:nvSpPr>
        <p:spPr>
          <a:xfrm>
            <a:off x="0" y="0"/>
            <a:ext cx="191135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" name="!!表格 6">
            <a:extLst>
              <a:ext uri="{FF2B5EF4-FFF2-40B4-BE49-F238E27FC236}">
                <a16:creationId xmlns:a16="http://schemas.microsoft.com/office/drawing/2014/main" id="{3C216A98-3011-267D-D021-7ED349CDD5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8749278"/>
              </p:ext>
            </p:extLst>
          </p:nvPr>
        </p:nvGraphicFramePr>
        <p:xfrm>
          <a:off x="-144994" y="50300"/>
          <a:ext cx="124819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32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1935504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358508">
                  <a:extLst>
                    <a:ext uri="{9D8B030D-6E8A-4147-A177-3AD203B41FA5}">
                      <a16:colId xmlns:a16="http://schemas.microsoft.com/office/drawing/2014/main" val="417742799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1823862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080332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01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02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理论基础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	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03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学情分析与教学目标</a:t>
                      </a:r>
                    </a:p>
                    <a:p>
                      <a:pPr algn="ctr"/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04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05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06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8" name="AutoShape 3">
            <a:extLst>
              <a:ext uri="{FF2B5EF4-FFF2-40B4-BE49-F238E27FC236}">
                <a16:creationId xmlns:a16="http://schemas.microsoft.com/office/drawing/2014/main" id="{522E23B1-AED5-CC6D-C672-8D48C6B2ECD4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一维有限高势垒模型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AutoShape 7">
            <a:extLst>
              <a:ext uri="{FF2B5EF4-FFF2-40B4-BE49-F238E27FC236}">
                <a16:creationId xmlns:a16="http://schemas.microsoft.com/office/drawing/2014/main" id="{DA179E3D-FC35-2353-A40B-E547172AEA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8881" y="1866817"/>
            <a:ext cx="4697695" cy="1051779"/>
          </a:xfrm>
          <a:prstGeom prst="roundRect">
            <a:avLst>
              <a:gd name="adj" fmla="val 0"/>
            </a:avLst>
          </a:prstGeom>
          <a:solidFill>
            <a:srgbClr val="BFD0E2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b="1" dirty="0" err="1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I</a:t>
            </a:r>
            <a:r>
              <a:rPr lang="en-US" altLang="zh-CN" b="1" dirty="0" err="1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区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(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x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&lt; 0)</a:t>
            </a:r>
            <a:br>
              <a:rPr lang="en-US" altLang="zh-CN" dirty="0">
                <a:solidFill>
                  <a:srgbClr val="1F23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</a:br>
            <a:r>
              <a:rPr lang="en-US" altLang="zh-CN" dirty="0" err="1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入射区，势能</a:t>
            </a:r>
            <a:r>
              <a:rPr lang="en-US" altLang="zh-CN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V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=</a:t>
            </a:r>
            <a:r>
              <a:rPr lang="en-US" altLang="zh-CN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0。粒子以平面波形式自由入射，无势能阻碍。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6" name="AutoShape 9">
            <a:extLst>
              <a:ext uri="{FF2B5EF4-FFF2-40B4-BE49-F238E27FC236}">
                <a16:creationId xmlns:a16="http://schemas.microsoft.com/office/drawing/2014/main" id="{A4A09CCC-B209-08BA-EDAA-45159BEA5BC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18881" y="3109283"/>
            <a:ext cx="4697695" cy="1051779"/>
          </a:xfrm>
          <a:prstGeom prst="roundRect">
            <a:avLst>
              <a:gd name="adj" fmla="val 0"/>
            </a:avLst>
          </a:prstGeom>
          <a:solidFill>
            <a:srgbClr val="D9D6E9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b="1" dirty="0" err="1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II</a:t>
            </a:r>
            <a:r>
              <a:rPr lang="en-US" altLang="zh-CN" b="1" dirty="0" err="1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区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(0 ≤ 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x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≤ 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a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)</a:t>
            </a:r>
            <a:br>
              <a:rPr lang="en-US" altLang="zh-CN" dirty="0">
                <a:solidFill>
                  <a:srgbClr val="1F23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</a:br>
            <a:r>
              <a:rPr lang="en-US" altLang="zh-CN" dirty="0" err="1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势垒区，势能</a:t>
            </a:r>
            <a:r>
              <a:rPr lang="en-US" altLang="zh-CN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V=V</a:t>
            </a:r>
            <a:r>
              <a:rPr lang="en-US" altLang="zh-CN" b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₀</a:t>
            </a:r>
            <a:r>
              <a:rPr lang="en-US" altLang="zh-CN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。</a:t>
            </a:r>
            <a:r>
              <a:rPr lang="en-US" altLang="zh-CN" dirty="0" err="1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这是粒子发生隧穿效应的核心区域，波函数呈指数衰减</a:t>
            </a:r>
            <a:r>
              <a:rPr lang="en-US" altLang="zh-CN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789674AF-1ED4-32D7-23A1-D243A0A03FD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618881" y="4327924"/>
            <a:ext cx="4697695" cy="1051779"/>
          </a:xfrm>
          <a:prstGeom prst="roundRect">
            <a:avLst>
              <a:gd name="adj" fmla="val 0"/>
            </a:avLst>
          </a:prstGeom>
          <a:solidFill>
            <a:srgbClr val="EAC6C6">
              <a:alpha val="4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b="1" dirty="0" err="1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III</a:t>
            </a:r>
            <a:r>
              <a:rPr lang="en-US" altLang="zh-CN" b="1" dirty="0" err="1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区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(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x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&gt; 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a</a:t>
            </a:r>
            <a:r>
              <a:rPr lang="en-US" altLang="zh-CN" b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)</a:t>
            </a:r>
            <a:br>
              <a:rPr lang="en-US" altLang="zh-CN" dirty="0">
                <a:solidFill>
                  <a:srgbClr val="1F23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</a:br>
            <a:r>
              <a:rPr lang="en-US" altLang="zh-CN" dirty="0" err="1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出射区，势能</a:t>
            </a:r>
            <a:r>
              <a:rPr lang="en-US" altLang="zh-CN" b="1" i="1" dirty="0">
                <a:solidFill>
                  <a:srgbClr val="2F4A7B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 </a:t>
            </a:r>
            <a:r>
              <a:rPr lang="en-US" altLang="zh-CN" b="1" i="1" dirty="0">
                <a:solidFill>
                  <a:srgbClr val="2F4A7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V=</a:t>
            </a:r>
            <a:r>
              <a:rPr lang="en-US" altLang="zh-CN" dirty="0">
                <a:solidFill>
                  <a:srgbClr val="55555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 panose="020B0200000000000000" charset="-122"/>
              </a:rPr>
              <a:t>0</a:t>
            </a:r>
            <a:r>
              <a:rPr lang="en-US" altLang="zh-CN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Noto Sans SC" panose="020B0200000000000000" charset="-122"/>
              </a:rPr>
              <a:t>。粒子有一定概率以透射波形式存在，即隧穿成功。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1698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F90877A-DAA8-587E-28E5-D36062F722F0}"/>
              </a:ext>
            </a:extLst>
          </p:cNvPr>
          <p:cNvSpPr/>
          <p:nvPr/>
        </p:nvSpPr>
        <p:spPr>
          <a:xfrm>
            <a:off x="12252184" y="1233332"/>
            <a:ext cx="6733248" cy="934952"/>
          </a:xfrm>
          <a:prstGeom prst="rect">
            <a:avLst/>
          </a:prstGeom>
          <a:solidFill>
            <a:srgbClr val="C0D1E3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!!矩形 43">
            <a:extLst>
              <a:ext uri="{FF2B5EF4-FFF2-40B4-BE49-F238E27FC236}">
                <a16:creationId xmlns:a16="http://schemas.microsoft.com/office/drawing/2014/main" id="{A5F92411-6F3E-6434-1DF9-3FDC9F4AAC41}"/>
              </a:ext>
            </a:extLst>
          </p:cNvPr>
          <p:cNvSpPr/>
          <p:nvPr/>
        </p:nvSpPr>
        <p:spPr>
          <a:xfrm>
            <a:off x="5735960" y="1340768"/>
            <a:ext cx="6446163" cy="934952"/>
          </a:xfrm>
          <a:prstGeom prst="rect">
            <a:avLst/>
          </a:prstGeom>
          <a:solidFill>
            <a:srgbClr val="94ADCB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80FE4B7-50AE-836F-C79F-5BA6B0CE3A42}"/>
              </a:ext>
            </a:extLst>
          </p:cNvPr>
          <p:cNvGrpSpPr/>
          <p:nvPr/>
        </p:nvGrpSpPr>
        <p:grpSpPr>
          <a:xfrm>
            <a:off x="-2688976" y="1700808"/>
            <a:ext cx="9051243" cy="4212468"/>
            <a:chOff x="-2688976" y="1700808"/>
            <a:chExt cx="9051243" cy="4212468"/>
          </a:xfrm>
        </p:grpSpPr>
        <p:sp>
          <p:nvSpPr>
            <p:cNvPr id="27" name="矩形 26"/>
            <p:cNvSpPr/>
            <p:nvPr/>
          </p:nvSpPr>
          <p:spPr>
            <a:xfrm>
              <a:off x="1487488" y="2478525"/>
              <a:ext cx="1308712" cy="1874698"/>
            </a:xfrm>
            <a:prstGeom prst="rect">
              <a:avLst/>
            </a:prstGeom>
            <a:solidFill>
              <a:srgbClr val="FF0000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2782632" y="1700808"/>
              <a:ext cx="0" cy="421246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-2623630" y="4353319"/>
              <a:ext cx="898589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12" name="任意多边形: 形状 11"/>
            <p:cNvSpPr/>
            <p:nvPr/>
          </p:nvSpPr>
          <p:spPr>
            <a:xfrm>
              <a:off x="2149799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083647" y="3484647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H="1">
              <a:off x="-1824096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06568" y="2746559"/>
              <a:ext cx="316915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890645" y="2749300"/>
              <a:ext cx="358526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9503" y="2746559"/>
              <a:ext cx="451301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-2688976" y="3538647"/>
              <a:ext cx="9000000" cy="0"/>
            </a:xfrm>
            <a:prstGeom prst="line">
              <a:avLst/>
            </a:prstGeom>
            <a:ln w="12700">
              <a:solidFill>
                <a:srgbClr val="0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2136206" y="3540833"/>
              <a:ext cx="295221" cy="569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799685" y="2478523"/>
              <a:ext cx="909348" cy="187469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796226" y="3942227"/>
              <a:ext cx="886506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782632" y="3546527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682732" y="3510523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altLang="zh-CN" sz="1000" dirty="0">
                      <a:solidFill>
                        <a:srgbClr val="000000"/>
                      </a:solidFill>
                    </a:rPr>
                    <a:t>=0.5nm</a:t>
                  </a:r>
                  <a:endParaRPr lang="zh-CN" altLang="en-US" sz="1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2861437" y="2228944"/>
              <a:ext cx="7560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50" i="1" dirty="0">
                  <a:solidFill>
                    <a:srgbClr val="000000"/>
                  </a:solidFill>
                  <a:latin typeface="KaTeX_Math"/>
                </a:rPr>
                <a:t>V</a:t>
              </a:r>
              <a:r>
                <a:rPr lang="zh-CN" altLang="zh-CN" sz="1050" baseline="-25000" dirty="0">
                  <a:solidFill>
                    <a:srgbClr val="000000"/>
                  </a:solidFill>
                  <a:latin typeface="KaTeX_Main"/>
                </a:rPr>
                <a:t>0</a:t>
              </a:r>
              <a:r>
                <a:rPr lang="zh-CN" altLang="zh-CN" sz="1050" dirty="0">
                  <a:solidFill>
                    <a:srgbClr val="000000"/>
                  </a:solidFill>
                  <a:latin typeface="KaTeX_Main"/>
                </a:rPr>
                <a:t>​=2 eV</a:t>
              </a:r>
              <a:endParaRPr lang="zh-CN" altLang="en-US" sz="1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DD8DF2-449E-01E4-9CDB-5497612DEFE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sp>
        <p:nvSpPr>
          <p:cNvPr id="3" name="!!矩形 1">
            <a:extLst>
              <a:ext uri="{FF2B5EF4-FFF2-40B4-BE49-F238E27FC236}">
                <a16:creationId xmlns:a16="http://schemas.microsoft.com/office/drawing/2014/main" id="{8995B3FB-60C2-AF09-E6A9-F99284C6749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!!矩形 7">
            <a:extLst>
              <a:ext uri="{FF2B5EF4-FFF2-40B4-BE49-F238E27FC236}">
                <a16:creationId xmlns:a16="http://schemas.microsoft.com/office/drawing/2014/main" id="{834D3CD1-606A-8088-4DA9-918BA447B529}"/>
              </a:ext>
            </a:extLst>
          </p:cNvPr>
          <p:cNvSpPr/>
          <p:nvPr/>
        </p:nvSpPr>
        <p:spPr>
          <a:xfrm>
            <a:off x="0" y="0"/>
            <a:ext cx="191135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" name="!!表格 6">
            <a:extLst>
              <a:ext uri="{FF2B5EF4-FFF2-40B4-BE49-F238E27FC236}">
                <a16:creationId xmlns:a16="http://schemas.microsoft.com/office/drawing/2014/main" id="{3C216A98-3011-267D-D021-7ED349CDD544}"/>
              </a:ext>
            </a:extLst>
          </p:cNvPr>
          <p:cNvGraphicFramePr>
            <a:graphicFrameLocks/>
          </p:cNvGraphicFramePr>
          <p:nvPr/>
        </p:nvGraphicFramePr>
        <p:xfrm>
          <a:off x="-144994" y="50300"/>
          <a:ext cx="124819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32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1935504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358508">
                  <a:extLst>
                    <a:ext uri="{9D8B030D-6E8A-4147-A177-3AD203B41FA5}">
                      <a16:colId xmlns:a16="http://schemas.microsoft.com/office/drawing/2014/main" val="417742799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1823862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080332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01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02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理论基础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	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03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学情分析与教学目标</a:t>
                      </a:r>
                    </a:p>
                    <a:p>
                      <a:pPr algn="ctr"/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04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05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06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8" name="AutoShape 3">
            <a:extLst>
              <a:ext uri="{FF2B5EF4-FFF2-40B4-BE49-F238E27FC236}">
                <a16:creationId xmlns:a16="http://schemas.microsoft.com/office/drawing/2014/main" id="{522E23B1-AED5-CC6D-C672-8D48C6B2ECD4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一维有限高势垒模型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E211936-3EE3-031E-B365-464AA3FAA5C8}"/>
                  </a:ext>
                </a:extLst>
              </p:cNvPr>
              <p:cNvSpPr txBox="1"/>
              <p:nvPr/>
            </p:nvSpPr>
            <p:spPr>
              <a:xfrm>
                <a:off x="8961234" y="3735857"/>
                <a:ext cx="163108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𝑚𝐸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E211936-3EE3-031E-B365-464AA3FAA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234" y="3735857"/>
                <a:ext cx="1631088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D81BF34F-AEE8-B763-8453-E36A611A40F5}"/>
              </a:ext>
            </a:extLst>
          </p:cNvPr>
          <p:cNvSpPr txBox="1"/>
          <p:nvPr/>
        </p:nvSpPr>
        <p:spPr>
          <a:xfrm>
            <a:off x="8421174" y="3898842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F01140-CA25-5A5B-7EA9-2A1155CEBD18}"/>
                  </a:ext>
                </a:extLst>
              </p:cNvPr>
              <p:cNvSpPr txBox="1"/>
              <p:nvPr/>
            </p:nvSpPr>
            <p:spPr>
              <a:xfrm>
                <a:off x="6729674" y="2915829"/>
                <a:ext cx="126002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F01140-CA25-5A5B-7EA9-2A1155CEB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74" y="2915829"/>
                <a:ext cx="1260024" cy="5557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C3924EF-A620-5960-342D-68F1C50DA6B8}"/>
                  </a:ext>
                </a:extLst>
              </p:cNvPr>
              <p:cNvSpPr txBox="1"/>
              <p:nvPr/>
            </p:nvSpPr>
            <p:spPr>
              <a:xfrm>
                <a:off x="8265061" y="3093162"/>
                <a:ext cx="1100879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C3924EF-A620-5960-342D-68F1C50DA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061" y="3093162"/>
                <a:ext cx="1100879" cy="277127"/>
              </a:xfrm>
              <a:prstGeom prst="rect">
                <a:avLst/>
              </a:prstGeom>
              <a:blipFill>
                <a:blip r:embed="rId5"/>
                <a:stretch>
                  <a:fillRect l="-4444" t="-21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72C47BB-4259-0394-96CB-9E508EEF67F8}"/>
                  </a:ext>
                </a:extLst>
              </p:cNvPr>
              <p:cNvSpPr txBox="1"/>
              <p:nvPr/>
            </p:nvSpPr>
            <p:spPr>
              <a:xfrm>
                <a:off x="8016831" y="3093162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72C47BB-4259-0394-96CB-9E508EEF6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831" y="3093162"/>
                <a:ext cx="235641" cy="277127"/>
              </a:xfrm>
              <a:prstGeom prst="rect">
                <a:avLst/>
              </a:prstGeom>
              <a:blipFill>
                <a:blip r:embed="rId6"/>
                <a:stretch>
                  <a:fillRect l="-17949" r="-1794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!!文本框 30">
                <a:extLst>
                  <a:ext uri="{FF2B5EF4-FFF2-40B4-BE49-F238E27FC236}">
                    <a16:creationId xmlns:a16="http://schemas.microsoft.com/office/drawing/2014/main" id="{99A36A43-FA37-2839-D110-1C783FC67FE5}"/>
                  </a:ext>
                </a:extLst>
              </p:cNvPr>
              <p:cNvSpPr txBox="1"/>
              <p:nvPr/>
            </p:nvSpPr>
            <p:spPr>
              <a:xfrm>
                <a:off x="9316657" y="3101015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1" name="!!文本框 30">
                <a:extLst>
                  <a:ext uri="{FF2B5EF4-FFF2-40B4-BE49-F238E27FC236}">
                    <a16:creationId xmlns:a16="http://schemas.microsoft.com/office/drawing/2014/main" id="{99A36A43-FA37-2839-D110-1C783FC67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657" y="3101015"/>
                <a:ext cx="235641" cy="277127"/>
              </a:xfrm>
              <a:prstGeom prst="rect">
                <a:avLst/>
              </a:prstGeom>
              <a:blipFill>
                <a:blip r:embed="rId7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1C1FDD6-DAC2-6D50-C617-2AB209802899}"/>
                  </a:ext>
                </a:extLst>
              </p:cNvPr>
              <p:cNvSpPr txBox="1"/>
              <p:nvPr/>
            </p:nvSpPr>
            <p:spPr>
              <a:xfrm>
                <a:off x="9357966" y="3101282"/>
                <a:ext cx="98565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1C1FDD6-DAC2-6D50-C617-2AB209802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966" y="3101282"/>
                <a:ext cx="985654" cy="277127"/>
              </a:xfrm>
              <a:prstGeom prst="rect">
                <a:avLst/>
              </a:prstGeom>
              <a:blipFill>
                <a:blip r:embed="rId8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DE52B71-2477-0DAE-468E-72256F29F972}"/>
                  </a:ext>
                </a:extLst>
              </p:cNvPr>
              <p:cNvSpPr txBox="1"/>
              <p:nvPr/>
            </p:nvSpPr>
            <p:spPr>
              <a:xfrm>
                <a:off x="6492044" y="1637453"/>
                <a:ext cx="5141985" cy="431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定态薛定谔方程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DE52B71-2477-0DAE-468E-72256F29F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044" y="1637453"/>
                <a:ext cx="5141985" cy="431849"/>
              </a:xfrm>
              <a:prstGeom prst="rect">
                <a:avLst/>
              </a:prstGeom>
              <a:blipFill>
                <a:blip r:embed="rId9"/>
                <a:stretch>
                  <a:fillRect l="-2847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29DAB011-2AC7-BE2B-0EF7-8D38674CE0F5}"/>
              </a:ext>
            </a:extLst>
          </p:cNvPr>
          <p:cNvSpPr txBox="1"/>
          <p:nvPr/>
        </p:nvSpPr>
        <p:spPr>
          <a:xfrm>
            <a:off x="6832832" y="2384884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B680DE7-0412-DE74-4C92-E71772584896}"/>
              </a:ext>
            </a:extLst>
          </p:cNvPr>
          <p:cNvSpPr txBox="1"/>
          <p:nvPr/>
        </p:nvSpPr>
        <p:spPr>
          <a:xfrm>
            <a:off x="8421174" y="4824041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!!文本框 35">
                <a:extLst>
                  <a:ext uri="{FF2B5EF4-FFF2-40B4-BE49-F238E27FC236}">
                    <a16:creationId xmlns:a16="http://schemas.microsoft.com/office/drawing/2014/main" id="{90A52B52-6A8D-700F-A9A8-4D26A198899F}"/>
                  </a:ext>
                </a:extLst>
              </p:cNvPr>
              <p:cNvSpPr txBox="1"/>
              <p:nvPr/>
            </p:nvSpPr>
            <p:spPr>
              <a:xfrm>
                <a:off x="9155571" y="4500005"/>
                <a:ext cx="1149289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6" name="!!文本框 35">
                <a:extLst>
                  <a:ext uri="{FF2B5EF4-FFF2-40B4-BE49-F238E27FC236}">
                    <a16:creationId xmlns:a16="http://schemas.microsoft.com/office/drawing/2014/main" id="{90A52B52-6A8D-700F-A9A8-4D26A1988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5571" y="4500005"/>
                <a:ext cx="1149289" cy="818366"/>
              </a:xfrm>
              <a:prstGeom prst="rect">
                <a:avLst/>
              </a:prstGeom>
              <a:blipFill>
                <a:blip r:embed="rId10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19DD5B61-E78E-2890-7F45-E54A39146887}"/>
              </a:ext>
            </a:extLst>
          </p:cNvPr>
          <p:cNvGrpSpPr/>
          <p:nvPr/>
        </p:nvGrpSpPr>
        <p:grpSpPr>
          <a:xfrm>
            <a:off x="10279840" y="4196015"/>
            <a:ext cx="200033" cy="464630"/>
            <a:chOff x="10186914" y="4097118"/>
            <a:chExt cx="200033" cy="46463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C9AFC7DC-3AD4-0BBD-16C0-3BB39FC0CD8E}"/>
                </a:ext>
              </a:extLst>
            </p:cNvPr>
            <p:cNvSpPr/>
            <p:nvPr/>
          </p:nvSpPr>
          <p:spPr>
            <a:xfrm>
              <a:off x="10186914" y="4133123"/>
              <a:ext cx="200033" cy="428625"/>
            </a:xfrm>
            <a:custGeom>
              <a:avLst/>
              <a:gdLst>
                <a:gd name="csX0" fmla="*/ 47625 w 47625"/>
                <a:gd name="csY0" fmla="*/ 412750 h 412750"/>
                <a:gd name="csX1" fmla="*/ 0 w 47625"/>
                <a:gd name="csY1" fmla="*/ 0 h 412750"/>
                <a:gd name="csX0-1" fmla="*/ 47625 w 108236"/>
                <a:gd name="csY0-2" fmla="*/ 412750 h 412750"/>
                <a:gd name="csX1-3" fmla="*/ 107950 w 108236"/>
                <a:gd name="csY1-4" fmla="*/ 180975 h 412750"/>
                <a:gd name="csX2" fmla="*/ 0 w 108236"/>
                <a:gd name="csY2" fmla="*/ 0 h 412750"/>
                <a:gd name="csX0-5" fmla="*/ 47625 w 107967"/>
                <a:gd name="csY0-6" fmla="*/ 412750 h 412750"/>
                <a:gd name="csX1-7" fmla="*/ 107950 w 107967"/>
                <a:gd name="csY1-8" fmla="*/ 180975 h 412750"/>
                <a:gd name="csX2-9" fmla="*/ 0 w 107967"/>
                <a:gd name="csY2-10" fmla="*/ 0 h 412750"/>
                <a:gd name="csX0-11" fmla="*/ 47625 w 110393"/>
                <a:gd name="csY0-12" fmla="*/ 412750 h 412750"/>
                <a:gd name="csX1-13" fmla="*/ 107950 w 110393"/>
                <a:gd name="csY1-14" fmla="*/ 180975 h 412750"/>
                <a:gd name="csX2-15" fmla="*/ 0 w 110393"/>
                <a:gd name="csY2-16" fmla="*/ 0 h 412750"/>
                <a:gd name="csX0-17" fmla="*/ 47625 w 111597"/>
                <a:gd name="csY0-18" fmla="*/ 412750 h 412750"/>
                <a:gd name="csX1-19" fmla="*/ 107950 w 111597"/>
                <a:gd name="csY1-20" fmla="*/ 180975 h 412750"/>
                <a:gd name="csX2-21" fmla="*/ 0 w 111597"/>
                <a:gd name="csY2-22" fmla="*/ 0 h 412750"/>
                <a:gd name="csX0-23" fmla="*/ 47625 w 111597"/>
                <a:gd name="csY0-24" fmla="*/ 412750 h 412750"/>
                <a:gd name="csX1-25" fmla="*/ 107950 w 111597"/>
                <a:gd name="csY1-26" fmla="*/ 180975 h 412750"/>
                <a:gd name="csX2-27" fmla="*/ 0 w 111597"/>
                <a:gd name="csY2-28" fmla="*/ 0 h 412750"/>
                <a:gd name="csX0-29" fmla="*/ 47625 w 113220"/>
                <a:gd name="csY0-30" fmla="*/ 412750 h 412750"/>
                <a:gd name="csX1-31" fmla="*/ 107950 w 113220"/>
                <a:gd name="csY1-32" fmla="*/ 180975 h 412750"/>
                <a:gd name="csX2-33" fmla="*/ 0 w 113220"/>
                <a:gd name="csY2-34" fmla="*/ 0 h 412750"/>
                <a:gd name="csX0-35" fmla="*/ 47625 w 117658"/>
                <a:gd name="csY0-36" fmla="*/ 412750 h 412750"/>
                <a:gd name="csX1-37" fmla="*/ 112713 w 117658"/>
                <a:gd name="csY1-38" fmla="*/ 173037 h 412750"/>
                <a:gd name="csX2-39" fmla="*/ 0 w 117658"/>
                <a:gd name="csY2-40" fmla="*/ 0 h 412750"/>
                <a:gd name="csX0-41" fmla="*/ 47625 w 115669"/>
                <a:gd name="csY0-42" fmla="*/ 412750 h 412750"/>
                <a:gd name="csX1-43" fmla="*/ 112713 w 115669"/>
                <a:gd name="csY1-44" fmla="*/ 173037 h 412750"/>
                <a:gd name="csX2-45" fmla="*/ 0 w 115669"/>
                <a:gd name="csY2-46" fmla="*/ 0 h 412750"/>
                <a:gd name="csX0-47" fmla="*/ 130175 w 200033"/>
                <a:gd name="csY0-48" fmla="*/ 428625 h 428625"/>
                <a:gd name="csX1-49" fmla="*/ 195263 w 200033"/>
                <a:gd name="csY1-50" fmla="*/ 188912 h 428625"/>
                <a:gd name="csX2-51" fmla="*/ 0 w 200033"/>
                <a:gd name="csY2-52" fmla="*/ 0 h 428625"/>
                <a:gd name="csX0-53" fmla="*/ 130175 w 200033"/>
                <a:gd name="csY0-54" fmla="*/ 428625 h 428625"/>
                <a:gd name="csX1-55" fmla="*/ 195263 w 200033"/>
                <a:gd name="csY1-56" fmla="*/ 188912 h 428625"/>
                <a:gd name="csX2-57" fmla="*/ 0 w 200033"/>
                <a:gd name="csY2-58" fmla="*/ 0 h 428625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9" y="csY2-10"/>
                </a:cxn>
              </a:cxnLst>
              <a:rect l="l" t="t" r="r" b="b"/>
              <a:pathLst>
                <a:path w="200033" h="428625">
                  <a:moveTo>
                    <a:pt x="130175" y="428625"/>
                  </a:moveTo>
                  <a:cubicBezTo>
                    <a:pt x="159280" y="375973"/>
                    <a:pt x="216959" y="260349"/>
                    <a:pt x="195263" y="188912"/>
                  </a:cubicBezTo>
                  <a:cubicBezTo>
                    <a:pt x="173567" y="117475"/>
                    <a:pt x="80962" y="21167"/>
                    <a:pt x="0" y="0"/>
                  </a:cubicBezTo>
                </a:path>
              </a:pathLst>
            </a:custGeom>
            <a:noFill/>
            <a:ln w="2222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9B520A5-7792-7D8A-E04D-19684F69A48E}"/>
                </a:ext>
              </a:extLst>
            </p:cNvPr>
            <p:cNvCxnSpPr/>
            <p:nvPr/>
          </p:nvCxnSpPr>
          <p:spPr>
            <a:xfrm rot="7020000">
              <a:off x="10244957" y="4061114"/>
              <a:ext cx="72008" cy="144016"/>
            </a:xfrm>
            <a:prstGeom prst="line">
              <a:avLst/>
            </a:prstGeom>
            <a:ln w="22225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FF10A4B-34E5-D32E-A13C-5274363DE744}"/>
                </a:ext>
              </a:extLst>
            </p:cNvPr>
            <p:cNvCxnSpPr/>
            <p:nvPr/>
          </p:nvCxnSpPr>
          <p:spPr>
            <a:xfrm flipH="1" flipV="1">
              <a:off x="10199747" y="4137878"/>
              <a:ext cx="40891" cy="120661"/>
            </a:xfrm>
            <a:prstGeom prst="line">
              <a:avLst/>
            </a:prstGeom>
            <a:ln w="22225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DE8CBD8B-237A-DF2C-3502-1B98BAF8B2AF}"/>
              </a:ext>
            </a:extLst>
          </p:cNvPr>
          <p:cNvSpPr txBox="1"/>
          <p:nvPr/>
        </p:nvSpPr>
        <p:spPr>
          <a:xfrm>
            <a:off x="8405646" y="5668889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!!文本框 64">
                <a:extLst>
                  <a:ext uri="{FF2B5EF4-FFF2-40B4-BE49-F238E27FC236}">
                    <a16:creationId xmlns:a16="http://schemas.microsoft.com/office/drawing/2014/main" id="{6027524B-5B1C-F0DC-FCBA-91CBFA0F7D34}"/>
                  </a:ext>
                </a:extLst>
              </p:cNvPr>
              <p:cNvSpPr txBox="1"/>
              <p:nvPr/>
            </p:nvSpPr>
            <p:spPr>
              <a:xfrm>
                <a:off x="8976548" y="5663038"/>
                <a:ext cx="13238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2" name="!!文本框 64">
                <a:extLst>
                  <a:ext uri="{FF2B5EF4-FFF2-40B4-BE49-F238E27FC236}">
                    <a16:creationId xmlns:a16="http://schemas.microsoft.com/office/drawing/2014/main" id="{6027524B-5B1C-F0DC-FCBA-91CBFA0F7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548" y="5663038"/>
                <a:ext cx="1323824" cy="276999"/>
              </a:xfrm>
              <a:prstGeom prst="rect">
                <a:avLst/>
              </a:prstGeom>
              <a:blipFill>
                <a:blip r:embed="rId11"/>
                <a:stretch>
                  <a:fillRect l="-5530" t="-4444" r="-92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910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7.40741E-7 L 0.10781 -0.00139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9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1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28" grpId="0"/>
      <p:bldP spid="29" grpId="0"/>
      <p:bldP spid="30" grpId="0"/>
      <p:bldP spid="35" grpId="0"/>
      <p:bldP spid="36" grpId="0"/>
      <p:bldP spid="41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F67CE5F6-1DFC-6CEB-1E32-7A9E1A051FEE}"/>
              </a:ext>
            </a:extLst>
          </p:cNvPr>
          <p:cNvSpPr/>
          <p:nvPr/>
        </p:nvSpPr>
        <p:spPr>
          <a:xfrm>
            <a:off x="12288188" y="2204864"/>
            <a:ext cx="6733248" cy="934952"/>
          </a:xfrm>
          <a:prstGeom prst="rect">
            <a:avLst/>
          </a:prstGeom>
          <a:solidFill>
            <a:srgbClr val="DAD7E8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64A4E0F-5470-E2BD-CE62-F3DF49698A16}"/>
              </a:ext>
            </a:extLst>
          </p:cNvPr>
          <p:cNvSpPr/>
          <p:nvPr/>
        </p:nvSpPr>
        <p:spPr>
          <a:xfrm>
            <a:off x="5448875" y="1233332"/>
            <a:ext cx="6733248" cy="934952"/>
          </a:xfrm>
          <a:prstGeom prst="rect">
            <a:avLst/>
          </a:prstGeom>
          <a:solidFill>
            <a:srgbClr val="C0D1E3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80FE4B7-50AE-836F-C79F-5BA6B0CE3A42}"/>
              </a:ext>
            </a:extLst>
          </p:cNvPr>
          <p:cNvGrpSpPr/>
          <p:nvPr/>
        </p:nvGrpSpPr>
        <p:grpSpPr>
          <a:xfrm>
            <a:off x="-2688976" y="1700808"/>
            <a:ext cx="9051243" cy="4212468"/>
            <a:chOff x="-2688976" y="1700808"/>
            <a:chExt cx="9051243" cy="4212468"/>
          </a:xfrm>
        </p:grpSpPr>
        <p:sp>
          <p:nvSpPr>
            <p:cNvPr id="27" name="矩形 26"/>
            <p:cNvSpPr/>
            <p:nvPr/>
          </p:nvSpPr>
          <p:spPr>
            <a:xfrm>
              <a:off x="2782632" y="2478525"/>
              <a:ext cx="934806" cy="1874698"/>
            </a:xfrm>
            <a:prstGeom prst="rect">
              <a:avLst/>
            </a:prstGeom>
            <a:solidFill>
              <a:srgbClr val="FF0000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2782632" y="1700808"/>
              <a:ext cx="0" cy="421246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-2623630" y="4353319"/>
              <a:ext cx="898589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12" name="任意多边形: 形状 11"/>
            <p:cNvSpPr/>
            <p:nvPr/>
          </p:nvSpPr>
          <p:spPr>
            <a:xfrm>
              <a:off x="2149799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3143672" y="3484647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H="1">
              <a:off x="-1824096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06568" y="2746559"/>
              <a:ext cx="316915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890645" y="2749300"/>
              <a:ext cx="358526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9503" y="2746559"/>
              <a:ext cx="451301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-2688976" y="3538647"/>
              <a:ext cx="9000000" cy="0"/>
            </a:xfrm>
            <a:prstGeom prst="line">
              <a:avLst/>
            </a:prstGeom>
            <a:ln w="12700">
              <a:solidFill>
                <a:srgbClr val="0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3196231" y="3540833"/>
              <a:ext cx="295221" cy="569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799685" y="2478523"/>
              <a:ext cx="909348" cy="187469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796226" y="3942227"/>
              <a:ext cx="886506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782632" y="3546527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682732" y="3510523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altLang="zh-CN" sz="1000" dirty="0">
                      <a:solidFill>
                        <a:srgbClr val="000000"/>
                      </a:solidFill>
                    </a:rPr>
                    <a:t>=0.5nm</a:t>
                  </a:r>
                  <a:endParaRPr lang="zh-CN" altLang="en-US" sz="1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2861437" y="2228944"/>
              <a:ext cx="7560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50" i="1" dirty="0">
                  <a:solidFill>
                    <a:srgbClr val="000000"/>
                  </a:solidFill>
                  <a:latin typeface="KaTeX_Math"/>
                </a:rPr>
                <a:t>V</a:t>
              </a:r>
              <a:r>
                <a:rPr lang="zh-CN" altLang="zh-CN" sz="1050" baseline="-25000" dirty="0">
                  <a:solidFill>
                    <a:srgbClr val="000000"/>
                  </a:solidFill>
                  <a:latin typeface="KaTeX_Main"/>
                </a:rPr>
                <a:t>0</a:t>
              </a:r>
              <a:r>
                <a:rPr lang="zh-CN" altLang="zh-CN" sz="1050" dirty="0">
                  <a:solidFill>
                    <a:srgbClr val="000000"/>
                  </a:solidFill>
                  <a:latin typeface="KaTeX_Main"/>
                </a:rPr>
                <a:t>​=2 eV</a:t>
              </a:r>
              <a:endParaRPr lang="zh-CN" altLang="en-US" sz="1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DD8DF2-449E-01E4-9CDB-5497612DEFE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sp>
        <p:nvSpPr>
          <p:cNvPr id="3" name="!!矩形 1">
            <a:extLst>
              <a:ext uri="{FF2B5EF4-FFF2-40B4-BE49-F238E27FC236}">
                <a16:creationId xmlns:a16="http://schemas.microsoft.com/office/drawing/2014/main" id="{8995B3FB-60C2-AF09-E6A9-F99284C6749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!!矩形 7">
            <a:extLst>
              <a:ext uri="{FF2B5EF4-FFF2-40B4-BE49-F238E27FC236}">
                <a16:creationId xmlns:a16="http://schemas.microsoft.com/office/drawing/2014/main" id="{834D3CD1-606A-8088-4DA9-918BA447B529}"/>
              </a:ext>
            </a:extLst>
          </p:cNvPr>
          <p:cNvSpPr/>
          <p:nvPr/>
        </p:nvSpPr>
        <p:spPr>
          <a:xfrm>
            <a:off x="0" y="0"/>
            <a:ext cx="191135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" name="!!表格 6">
            <a:extLst>
              <a:ext uri="{FF2B5EF4-FFF2-40B4-BE49-F238E27FC236}">
                <a16:creationId xmlns:a16="http://schemas.microsoft.com/office/drawing/2014/main" id="{3C216A98-3011-267D-D021-7ED349CDD544}"/>
              </a:ext>
            </a:extLst>
          </p:cNvPr>
          <p:cNvGraphicFramePr>
            <a:graphicFrameLocks/>
          </p:cNvGraphicFramePr>
          <p:nvPr/>
        </p:nvGraphicFramePr>
        <p:xfrm>
          <a:off x="-144994" y="50300"/>
          <a:ext cx="124819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32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1935504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358508">
                  <a:extLst>
                    <a:ext uri="{9D8B030D-6E8A-4147-A177-3AD203B41FA5}">
                      <a16:colId xmlns:a16="http://schemas.microsoft.com/office/drawing/2014/main" val="417742799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1823862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080332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01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02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理论基础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	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03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学情分析与教学目标</a:t>
                      </a:r>
                    </a:p>
                    <a:p>
                      <a:pPr algn="ctr"/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04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05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06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8" name="AutoShape 3">
            <a:extLst>
              <a:ext uri="{FF2B5EF4-FFF2-40B4-BE49-F238E27FC236}">
                <a16:creationId xmlns:a16="http://schemas.microsoft.com/office/drawing/2014/main" id="{522E23B1-AED5-CC6D-C672-8D48C6B2ECD4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一维有限高势垒模型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DE52B71-2477-0DAE-468E-72256F29F972}"/>
                  </a:ext>
                </a:extLst>
              </p:cNvPr>
              <p:cNvSpPr txBox="1"/>
              <p:nvPr/>
            </p:nvSpPr>
            <p:spPr>
              <a:xfrm>
                <a:off x="6492044" y="-495436"/>
                <a:ext cx="5141985" cy="431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定态薛定谔方程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DE52B71-2477-0DAE-468E-72256F29F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044" y="-495436"/>
                <a:ext cx="5141985" cy="431849"/>
              </a:xfrm>
              <a:prstGeom prst="rect">
                <a:avLst/>
              </a:prstGeom>
              <a:blipFill>
                <a:blip r:embed="rId3"/>
                <a:stretch>
                  <a:fillRect l="-2847" b="-18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29DAB011-2AC7-BE2B-0EF7-8D38674CE0F5}"/>
              </a:ext>
            </a:extLst>
          </p:cNvPr>
          <p:cNvSpPr txBox="1"/>
          <p:nvPr/>
        </p:nvSpPr>
        <p:spPr>
          <a:xfrm>
            <a:off x="6832832" y="159279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!!文本框 35">
                <a:extLst>
                  <a:ext uri="{FF2B5EF4-FFF2-40B4-BE49-F238E27FC236}">
                    <a16:creationId xmlns:a16="http://schemas.microsoft.com/office/drawing/2014/main" id="{90A52B52-6A8D-700F-A9A8-4D26A198899F}"/>
                  </a:ext>
                </a:extLst>
              </p:cNvPr>
              <p:cNvSpPr txBox="1"/>
              <p:nvPr/>
            </p:nvSpPr>
            <p:spPr>
              <a:xfrm>
                <a:off x="9840416" y="1304764"/>
                <a:ext cx="1149289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6" name="!!文本框 35">
                <a:extLst>
                  <a:ext uri="{FF2B5EF4-FFF2-40B4-BE49-F238E27FC236}">
                    <a16:creationId xmlns:a16="http://schemas.microsoft.com/office/drawing/2014/main" id="{90A52B52-6A8D-700F-A9A8-4D26A1988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16" y="1304764"/>
                <a:ext cx="1149289" cy="818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!!文本框 64">
                <a:extLst>
                  <a:ext uri="{FF2B5EF4-FFF2-40B4-BE49-F238E27FC236}">
                    <a16:creationId xmlns:a16="http://schemas.microsoft.com/office/drawing/2014/main" id="{32D721F5-C1D5-1284-AE86-AAF7648A1616}"/>
                  </a:ext>
                </a:extLst>
              </p:cNvPr>
              <p:cNvSpPr txBox="1"/>
              <p:nvPr/>
            </p:nvSpPr>
            <p:spPr>
              <a:xfrm>
                <a:off x="8080067" y="1628800"/>
                <a:ext cx="13238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5" name="!!文本框 64">
                <a:extLst>
                  <a:ext uri="{FF2B5EF4-FFF2-40B4-BE49-F238E27FC236}">
                    <a16:creationId xmlns:a16="http://schemas.microsoft.com/office/drawing/2014/main" id="{32D721F5-C1D5-1284-AE86-AAF7648A1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067" y="1628800"/>
                <a:ext cx="1323824" cy="276999"/>
              </a:xfrm>
              <a:prstGeom prst="rect">
                <a:avLst/>
              </a:prstGeom>
              <a:blipFill>
                <a:blip r:embed="rId5"/>
                <a:stretch>
                  <a:fillRect l="-5505" t="-4348" r="-917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!!矩形 43">
            <a:extLst>
              <a:ext uri="{FF2B5EF4-FFF2-40B4-BE49-F238E27FC236}">
                <a16:creationId xmlns:a16="http://schemas.microsoft.com/office/drawing/2014/main" id="{2F1BE8A9-1990-6A67-F7AD-C78D0A6B23C8}"/>
              </a:ext>
            </a:extLst>
          </p:cNvPr>
          <p:cNvSpPr/>
          <p:nvPr/>
        </p:nvSpPr>
        <p:spPr>
          <a:xfrm>
            <a:off x="5735960" y="-999492"/>
            <a:ext cx="6446163" cy="934952"/>
          </a:xfrm>
          <a:prstGeom prst="rect">
            <a:avLst/>
          </a:prstGeom>
          <a:solidFill>
            <a:srgbClr val="94ADCB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5F9BA3-21F2-C33F-A3C1-29C02E671CE7}"/>
              </a:ext>
            </a:extLst>
          </p:cNvPr>
          <p:cNvSpPr txBox="1"/>
          <p:nvPr/>
        </p:nvSpPr>
        <p:spPr>
          <a:xfrm>
            <a:off x="6840760" y="2987532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449DAC6-BA91-EC0F-E5C5-6A5889FF1108}"/>
                  </a:ext>
                </a:extLst>
              </p:cNvPr>
              <p:cNvSpPr txBox="1"/>
              <p:nvPr/>
            </p:nvSpPr>
            <p:spPr>
              <a:xfrm>
                <a:off x="7068108" y="3449271"/>
                <a:ext cx="94699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449DAC6-BA91-EC0F-E5C5-6A5889FF1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108" y="3449271"/>
                <a:ext cx="946990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9D2AF30-C919-733D-8697-D5CC0F53C098}"/>
                  </a:ext>
                </a:extLst>
              </p:cNvPr>
              <p:cNvSpPr txBox="1"/>
              <p:nvPr/>
            </p:nvSpPr>
            <p:spPr>
              <a:xfrm>
                <a:off x="8227324" y="3626604"/>
                <a:ext cx="591700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9D2AF30-C919-733D-8697-D5CC0F53C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324" y="3626604"/>
                <a:ext cx="591700" cy="277127"/>
              </a:xfrm>
              <a:prstGeom prst="rect">
                <a:avLst/>
              </a:prstGeom>
              <a:blipFill>
                <a:blip r:embed="rId7"/>
                <a:stretch>
                  <a:fillRect l="-9278" t="-2222" r="-206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8B86DF8-77C3-8C75-B610-4178E8DCF9E0}"/>
                  </a:ext>
                </a:extLst>
              </p:cNvPr>
              <p:cNvSpPr txBox="1"/>
              <p:nvPr/>
            </p:nvSpPr>
            <p:spPr>
              <a:xfrm>
                <a:off x="7995481" y="3626604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8B86DF8-77C3-8C75-B610-4178E8DCF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481" y="3626604"/>
                <a:ext cx="235641" cy="277127"/>
              </a:xfrm>
              <a:prstGeom prst="rect">
                <a:avLst/>
              </a:prstGeom>
              <a:blipFill>
                <a:blip r:embed="rId8"/>
                <a:stretch>
                  <a:fillRect l="-21053" r="-18421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ACF96E7-F139-F792-EEBF-3EE2924FCF4E}"/>
                  </a:ext>
                </a:extLst>
              </p:cNvPr>
              <p:cNvSpPr txBox="1"/>
              <p:nvPr/>
            </p:nvSpPr>
            <p:spPr>
              <a:xfrm>
                <a:off x="8839503" y="3634457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ACF96E7-F139-F792-EEBF-3EE2924FC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503" y="3634457"/>
                <a:ext cx="235641" cy="277127"/>
              </a:xfrm>
              <a:prstGeom prst="rect">
                <a:avLst/>
              </a:prstGeom>
              <a:blipFill>
                <a:blip r:embed="rId9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699842E-3D71-A510-077A-264FC4EE859C}"/>
                  </a:ext>
                </a:extLst>
              </p:cNvPr>
              <p:cNvSpPr txBox="1"/>
              <p:nvPr/>
            </p:nvSpPr>
            <p:spPr>
              <a:xfrm>
                <a:off x="8880812" y="3634724"/>
                <a:ext cx="729238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699842E-3D71-A510-077A-264FC4EE8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12" y="3634724"/>
                <a:ext cx="729238" cy="277127"/>
              </a:xfrm>
              <a:prstGeom prst="rect">
                <a:avLst/>
              </a:prstGeom>
              <a:blipFill>
                <a:blip r:embed="rId10"/>
                <a:stretch>
                  <a:fillRect t="-2174" r="-2521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7F1FB93-0681-888A-BFA5-D1B5CB49A917}"/>
                  </a:ext>
                </a:extLst>
              </p:cNvPr>
              <p:cNvSpPr txBox="1"/>
              <p:nvPr/>
            </p:nvSpPr>
            <p:spPr>
              <a:xfrm>
                <a:off x="9565704" y="3626604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7F1FB93-0681-888A-BFA5-D1B5CB49A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704" y="3626604"/>
                <a:ext cx="235641" cy="277127"/>
              </a:xfrm>
              <a:prstGeom prst="rect">
                <a:avLst/>
              </a:prstGeom>
              <a:blipFill>
                <a:blip r:embed="rId11"/>
                <a:stretch>
                  <a:fillRect l="-2564" r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56EC23C-48FC-6D3C-82AF-EEEC324F3BF3}"/>
                  </a:ext>
                </a:extLst>
              </p:cNvPr>
              <p:cNvSpPr txBox="1"/>
              <p:nvPr/>
            </p:nvSpPr>
            <p:spPr>
              <a:xfrm>
                <a:off x="8878467" y="3642131"/>
                <a:ext cx="2102344" cy="277127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𝐼𝐼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 </a:t>
                </a: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56EC23C-48FC-6D3C-82AF-EEEC324F3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467" y="3642131"/>
                <a:ext cx="2102344" cy="277127"/>
              </a:xfrm>
              <a:prstGeom prst="rect">
                <a:avLst/>
              </a:prstGeom>
              <a:blipFill>
                <a:blip r:embed="rId12"/>
                <a:stretch>
                  <a:fillRect l="-2319" t="-21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416A2FF0-124D-7A17-9687-421D07FF0D7C}"/>
              </a:ext>
            </a:extLst>
          </p:cNvPr>
          <p:cNvSpPr txBox="1"/>
          <p:nvPr/>
        </p:nvSpPr>
        <p:spPr>
          <a:xfrm>
            <a:off x="6878256" y="4247672"/>
            <a:ext cx="57637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9084348-E742-D27C-1A42-B6809B495F7A}"/>
                  </a:ext>
                </a:extLst>
              </p:cNvPr>
              <p:cNvSpPr txBox="1"/>
              <p:nvPr/>
            </p:nvSpPr>
            <p:spPr>
              <a:xfrm>
                <a:off x="6518526" y="4247672"/>
                <a:ext cx="2891644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9084348-E742-D27C-1A42-B6809B495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526" y="4247672"/>
                <a:ext cx="2891644" cy="3694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CB069242-8D1E-3174-2FA0-A5D0251F0969}"/>
              </a:ext>
            </a:extLst>
          </p:cNvPr>
          <p:cNvSpPr txBox="1"/>
          <p:nvPr/>
        </p:nvSpPr>
        <p:spPr>
          <a:xfrm>
            <a:off x="6907022" y="4999981"/>
            <a:ext cx="47560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58651B1-A06C-8B92-DA9D-58ED53199B07}"/>
                  </a:ext>
                </a:extLst>
              </p:cNvPr>
              <p:cNvSpPr txBox="1"/>
              <p:nvPr/>
            </p:nvSpPr>
            <p:spPr>
              <a:xfrm>
                <a:off x="4902988" y="4666765"/>
                <a:ext cx="8465820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58651B1-A06C-8B92-DA9D-58ED5319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988" y="4666765"/>
                <a:ext cx="8465820" cy="9111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F5FD1959-55A0-B34B-AA11-05894811711A}"/>
              </a:ext>
            </a:extLst>
          </p:cNvPr>
          <p:cNvSpPr txBox="1"/>
          <p:nvPr/>
        </p:nvSpPr>
        <p:spPr>
          <a:xfrm>
            <a:off x="6986578" y="5805264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FB170D7-6670-CE64-C0AF-89A1152ED851}"/>
                  </a:ext>
                </a:extLst>
              </p:cNvPr>
              <p:cNvSpPr txBox="1"/>
              <p:nvPr/>
            </p:nvSpPr>
            <p:spPr>
              <a:xfrm>
                <a:off x="8057332" y="5852173"/>
                <a:ext cx="1396536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FB170D7-6670-CE64-C0AF-89A1152E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32" y="5852173"/>
                <a:ext cx="1396536" cy="277127"/>
              </a:xfrm>
              <a:prstGeom prst="rect">
                <a:avLst/>
              </a:prstGeom>
              <a:blipFill>
                <a:blip r:embed="rId15"/>
                <a:stretch>
                  <a:fillRect l="-5240" t="-4444" r="-437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224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59259E-6 L 0.1276 0.00139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48148E-6 L 0.06263 0.00162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5" grpId="0"/>
      <p:bldP spid="56" grpId="0" animBg="1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8E358EC5-51BC-DD21-AD91-98BF050FA1DA}"/>
              </a:ext>
            </a:extLst>
          </p:cNvPr>
          <p:cNvSpPr/>
          <p:nvPr/>
        </p:nvSpPr>
        <p:spPr>
          <a:xfrm>
            <a:off x="3712493" y="2478429"/>
            <a:ext cx="2563528" cy="1869911"/>
          </a:xfrm>
          <a:prstGeom prst="rect">
            <a:avLst/>
          </a:prstGeom>
          <a:gradFill>
            <a:gsLst>
              <a:gs pos="0">
                <a:srgbClr val="FF0000">
                  <a:alpha val="42000"/>
                </a:srgbClr>
              </a:gs>
              <a:gs pos="80000">
                <a:srgbClr val="FF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矩形 30">
            <a:extLst>
              <a:ext uri="{FF2B5EF4-FFF2-40B4-BE49-F238E27FC236}">
                <a16:creationId xmlns:a16="http://schemas.microsoft.com/office/drawing/2014/main" id="{5C2F2F2E-7C38-E354-9137-856A7360D288}"/>
              </a:ext>
            </a:extLst>
          </p:cNvPr>
          <p:cNvSpPr/>
          <p:nvPr/>
        </p:nvSpPr>
        <p:spPr>
          <a:xfrm>
            <a:off x="12288188" y="3191452"/>
            <a:ext cx="6733248" cy="934952"/>
          </a:xfrm>
          <a:prstGeom prst="rect">
            <a:avLst/>
          </a:prstGeom>
          <a:solidFill>
            <a:srgbClr val="EBC8C6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C80F98F-3F2D-9BD4-F39E-8BF27F782105}"/>
              </a:ext>
            </a:extLst>
          </p:cNvPr>
          <p:cNvSpPr/>
          <p:nvPr/>
        </p:nvSpPr>
        <p:spPr>
          <a:xfrm>
            <a:off x="5459057" y="2204864"/>
            <a:ext cx="6733248" cy="934952"/>
          </a:xfrm>
          <a:prstGeom prst="rect">
            <a:avLst/>
          </a:prstGeom>
          <a:solidFill>
            <a:srgbClr val="DAD7E8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64A4E0F-5470-E2BD-CE62-F3DF49698A16}"/>
              </a:ext>
            </a:extLst>
          </p:cNvPr>
          <p:cNvSpPr/>
          <p:nvPr/>
        </p:nvSpPr>
        <p:spPr>
          <a:xfrm>
            <a:off x="5448875" y="1233332"/>
            <a:ext cx="6733248" cy="934952"/>
          </a:xfrm>
          <a:prstGeom prst="rect">
            <a:avLst/>
          </a:prstGeom>
          <a:solidFill>
            <a:srgbClr val="C0D1E3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80FE4B7-50AE-836F-C79F-5BA6B0CE3A42}"/>
              </a:ext>
            </a:extLst>
          </p:cNvPr>
          <p:cNvGrpSpPr/>
          <p:nvPr/>
        </p:nvGrpSpPr>
        <p:grpSpPr>
          <a:xfrm>
            <a:off x="-2688976" y="1700808"/>
            <a:ext cx="9051243" cy="4212468"/>
            <a:chOff x="-2688976" y="1700808"/>
            <a:chExt cx="9051243" cy="4212468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2782632" y="1700808"/>
              <a:ext cx="0" cy="421246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-2623630" y="4353319"/>
              <a:ext cx="898589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12" name="任意多边形: 形状 11"/>
            <p:cNvSpPr/>
            <p:nvPr/>
          </p:nvSpPr>
          <p:spPr>
            <a:xfrm>
              <a:off x="2149799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3143672" y="3484647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H="1">
              <a:off x="-1824096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06568" y="2746559"/>
              <a:ext cx="316915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890645" y="2749300"/>
              <a:ext cx="358526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9503" y="2746559"/>
              <a:ext cx="451301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-2688976" y="3538647"/>
              <a:ext cx="9000000" cy="0"/>
            </a:xfrm>
            <a:prstGeom prst="line">
              <a:avLst/>
            </a:prstGeom>
            <a:ln w="12700">
              <a:solidFill>
                <a:srgbClr val="0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3196231" y="3540833"/>
              <a:ext cx="295221" cy="569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799685" y="2478523"/>
              <a:ext cx="909348" cy="187469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796226" y="3942227"/>
              <a:ext cx="886506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782632" y="3546527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682732" y="3510523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altLang="zh-CN" sz="1000" dirty="0">
                      <a:solidFill>
                        <a:srgbClr val="000000"/>
                      </a:solidFill>
                    </a:rPr>
                    <a:t>=0.5nm</a:t>
                  </a:r>
                  <a:endParaRPr lang="zh-CN" altLang="en-US" sz="1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2861437" y="2228944"/>
              <a:ext cx="7560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50" i="1" dirty="0">
                  <a:solidFill>
                    <a:srgbClr val="000000"/>
                  </a:solidFill>
                  <a:latin typeface="KaTeX_Math"/>
                </a:rPr>
                <a:t>V</a:t>
              </a:r>
              <a:r>
                <a:rPr lang="zh-CN" altLang="zh-CN" sz="1050" baseline="-25000" dirty="0">
                  <a:solidFill>
                    <a:srgbClr val="000000"/>
                  </a:solidFill>
                  <a:latin typeface="KaTeX_Main"/>
                </a:rPr>
                <a:t>0</a:t>
              </a:r>
              <a:r>
                <a:rPr lang="zh-CN" altLang="zh-CN" sz="1050" dirty="0">
                  <a:solidFill>
                    <a:srgbClr val="000000"/>
                  </a:solidFill>
                  <a:latin typeface="KaTeX_Main"/>
                </a:rPr>
                <a:t>​=2 eV</a:t>
              </a:r>
              <a:endParaRPr lang="zh-CN" altLang="en-US" sz="1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DD8DF2-449E-01E4-9CDB-5497612DEFE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sp>
        <p:nvSpPr>
          <p:cNvPr id="3" name="!!矩形 1">
            <a:extLst>
              <a:ext uri="{FF2B5EF4-FFF2-40B4-BE49-F238E27FC236}">
                <a16:creationId xmlns:a16="http://schemas.microsoft.com/office/drawing/2014/main" id="{8995B3FB-60C2-AF09-E6A9-F99284C6749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!!矩形 7">
            <a:extLst>
              <a:ext uri="{FF2B5EF4-FFF2-40B4-BE49-F238E27FC236}">
                <a16:creationId xmlns:a16="http://schemas.microsoft.com/office/drawing/2014/main" id="{834D3CD1-606A-8088-4DA9-918BA447B529}"/>
              </a:ext>
            </a:extLst>
          </p:cNvPr>
          <p:cNvSpPr/>
          <p:nvPr/>
        </p:nvSpPr>
        <p:spPr>
          <a:xfrm>
            <a:off x="0" y="0"/>
            <a:ext cx="191135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" name="!!表格 6">
            <a:extLst>
              <a:ext uri="{FF2B5EF4-FFF2-40B4-BE49-F238E27FC236}">
                <a16:creationId xmlns:a16="http://schemas.microsoft.com/office/drawing/2014/main" id="{3C216A98-3011-267D-D021-7ED349CDD544}"/>
              </a:ext>
            </a:extLst>
          </p:cNvPr>
          <p:cNvGraphicFramePr>
            <a:graphicFrameLocks/>
          </p:cNvGraphicFramePr>
          <p:nvPr/>
        </p:nvGraphicFramePr>
        <p:xfrm>
          <a:off x="-144994" y="50300"/>
          <a:ext cx="124819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32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1935504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358508">
                  <a:extLst>
                    <a:ext uri="{9D8B030D-6E8A-4147-A177-3AD203B41FA5}">
                      <a16:colId xmlns:a16="http://schemas.microsoft.com/office/drawing/2014/main" val="417742799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1823862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080332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01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02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理论基础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	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03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学情分析与教学目标</a:t>
                      </a:r>
                    </a:p>
                    <a:p>
                      <a:pPr algn="ctr"/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04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05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06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8" name="AutoShape 3">
            <a:extLst>
              <a:ext uri="{FF2B5EF4-FFF2-40B4-BE49-F238E27FC236}">
                <a16:creationId xmlns:a16="http://schemas.microsoft.com/office/drawing/2014/main" id="{522E23B1-AED5-CC6D-C672-8D48C6B2ECD4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一维有限高势垒模型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DAB011-2AC7-BE2B-0EF7-8D38674CE0F5}"/>
              </a:ext>
            </a:extLst>
          </p:cNvPr>
          <p:cNvSpPr txBox="1"/>
          <p:nvPr/>
        </p:nvSpPr>
        <p:spPr>
          <a:xfrm>
            <a:off x="6832832" y="159279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5F9BA3-21F2-C33F-A3C1-29C02E671CE7}"/>
              </a:ext>
            </a:extLst>
          </p:cNvPr>
          <p:cNvSpPr txBox="1"/>
          <p:nvPr/>
        </p:nvSpPr>
        <p:spPr>
          <a:xfrm>
            <a:off x="6840760" y="249289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58651B1-A06C-8B92-DA9D-58ED53199B07}"/>
                  </a:ext>
                </a:extLst>
              </p:cNvPr>
              <p:cNvSpPr txBox="1"/>
              <p:nvPr/>
            </p:nvSpPr>
            <p:spPr>
              <a:xfrm>
                <a:off x="6420036" y="2222052"/>
                <a:ext cx="8465820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58651B1-A06C-8B92-DA9D-58ED5319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036" y="2222052"/>
                <a:ext cx="8465820" cy="911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FB170D7-6670-CE64-C0AF-89A1152ED851}"/>
                  </a:ext>
                </a:extLst>
              </p:cNvPr>
              <p:cNvSpPr txBox="1"/>
              <p:nvPr/>
            </p:nvSpPr>
            <p:spPr>
              <a:xfrm>
                <a:off x="8040216" y="2575809"/>
                <a:ext cx="1396536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FB170D7-6670-CE64-C0AF-89A1152E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216" y="2575809"/>
                <a:ext cx="1396536" cy="277127"/>
              </a:xfrm>
              <a:prstGeom prst="rect">
                <a:avLst/>
              </a:prstGeom>
              <a:blipFill>
                <a:blip r:embed="rId4"/>
                <a:stretch>
                  <a:fillRect l="-5240" t="-4444" r="-437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6816080" y="3233165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III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011402" y="3728653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02" y="3728653"/>
                <a:ext cx="8465418" cy="378309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10164452" y="3991834"/>
            <a:ext cx="397528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||</a:t>
            </a:r>
          </a:p>
          <a:p>
            <a:r>
              <a:rPr lang="en-US" altLang="zh-CN" dirty="0">
                <a:solidFill>
                  <a:srgbClr val="000000"/>
                </a:solidFill>
              </a:rPr>
              <a:t>0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DE1E064-4E23-5CC2-6312-9D7A27DEDD80}"/>
                  </a:ext>
                </a:extLst>
              </p:cNvPr>
              <p:cNvSpPr txBox="1"/>
              <p:nvPr/>
            </p:nvSpPr>
            <p:spPr>
              <a:xfrm>
                <a:off x="9660396" y="3731563"/>
                <a:ext cx="1608219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DE1E064-4E23-5CC2-6312-9D7A27DED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96" y="3731563"/>
                <a:ext cx="1608219" cy="378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!!文本框 35">
                <a:extLst>
                  <a:ext uri="{FF2B5EF4-FFF2-40B4-BE49-F238E27FC236}">
                    <a16:creationId xmlns:a16="http://schemas.microsoft.com/office/drawing/2014/main" id="{D93D7E16-DBEB-DAB3-8E38-5310491CF0F3}"/>
                  </a:ext>
                </a:extLst>
              </p:cNvPr>
              <p:cNvSpPr txBox="1"/>
              <p:nvPr/>
            </p:nvSpPr>
            <p:spPr>
              <a:xfrm>
                <a:off x="9840416" y="1304764"/>
                <a:ext cx="1137811" cy="818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2" name="!!文本框 35">
                <a:extLst>
                  <a:ext uri="{FF2B5EF4-FFF2-40B4-BE49-F238E27FC236}">
                    <a16:creationId xmlns:a16="http://schemas.microsoft.com/office/drawing/2014/main" id="{D93D7E16-DBEB-DAB3-8E38-5310491CF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16" y="1304764"/>
                <a:ext cx="1137811" cy="818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!!文本框 64">
                <a:extLst>
                  <a:ext uri="{FF2B5EF4-FFF2-40B4-BE49-F238E27FC236}">
                    <a16:creationId xmlns:a16="http://schemas.microsoft.com/office/drawing/2014/main" id="{611605DC-E4C4-6BD5-CBF7-1E5A29E1EC53}"/>
                  </a:ext>
                </a:extLst>
              </p:cNvPr>
              <p:cNvSpPr txBox="1"/>
              <p:nvPr/>
            </p:nvSpPr>
            <p:spPr>
              <a:xfrm>
                <a:off x="8080067" y="162880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5" name="!!文本框 64">
                <a:extLst>
                  <a:ext uri="{FF2B5EF4-FFF2-40B4-BE49-F238E27FC236}">
                    <a16:creationId xmlns:a16="http://schemas.microsoft.com/office/drawing/2014/main" id="{611605DC-E4C4-6BD5-CBF7-1E5A29E1E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067" y="1628800"/>
                <a:ext cx="1316834" cy="277127"/>
              </a:xfrm>
              <a:prstGeom prst="rect">
                <a:avLst/>
              </a:prstGeom>
              <a:blipFill>
                <a:blip r:embed="rId8"/>
                <a:stretch>
                  <a:fillRect l="-5556" t="-4348" r="-926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069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8" grpId="0"/>
      <p:bldP spid="28" grpId="1"/>
      <p:bldP spid="30" grpId="0"/>
      <p:bldP spid="3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7AB81DE7-C186-F5D3-0505-0F009D100FA5}"/>
              </a:ext>
            </a:extLst>
          </p:cNvPr>
          <p:cNvSpPr/>
          <p:nvPr/>
        </p:nvSpPr>
        <p:spPr>
          <a:xfrm>
            <a:off x="3712493" y="2478429"/>
            <a:ext cx="2563528" cy="1869911"/>
          </a:xfrm>
          <a:prstGeom prst="rect">
            <a:avLst/>
          </a:prstGeom>
          <a:gradFill>
            <a:gsLst>
              <a:gs pos="0">
                <a:srgbClr val="FF0000">
                  <a:alpha val="42000"/>
                </a:srgbClr>
              </a:gs>
              <a:gs pos="80000">
                <a:srgbClr val="FF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C80F98F-3F2D-9BD4-F39E-8BF27F782105}"/>
              </a:ext>
            </a:extLst>
          </p:cNvPr>
          <p:cNvSpPr/>
          <p:nvPr/>
        </p:nvSpPr>
        <p:spPr>
          <a:xfrm>
            <a:off x="5459057" y="2204864"/>
            <a:ext cx="6733248" cy="934952"/>
          </a:xfrm>
          <a:prstGeom prst="rect">
            <a:avLst/>
          </a:prstGeom>
          <a:solidFill>
            <a:srgbClr val="DAD7E8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!!矩形 30">
            <a:extLst>
              <a:ext uri="{FF2B5EF4-FFF2-40B4-BE49-F238E27FC236}">
                <a16:creationId xmlns:a16="http://schemas.microsoft.com/office/drawing/2014/main" id="{B8565751-182C-3293-8348-87011C35DA84}"/>
              </a:ext>
            </a:extLst>
          </p:cNvPr>
          <p:cNvSpPr/>
          <p:nvPr/>
        </p:nvSpPr>
        <p:spPr>
          <a:xfrm>
            <a:off x="5458752" y="3191452"/>
            <a:ext cx="6733248" cy="934952"/>
          </a:xfrm>
          <a:prstGeom prst="rect">
            <a:avLst/>
          </a:prstGeom>
          <a:solidFill>
            <a:srgbClr val="EBC8C6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64A4E0F-5470-E2BD-CE62-F3DF49698A16}"/>
              </a:ext>
            </a:extLst>
          </p:cNvPr>
          <p:cNvSpPr/>
          <p:nvPr/>
        </p:nvSpPr>
        <p:spPr>
          <a:xfrm>
            <a:off x="5448875" y="1233332"/>
            <a:ext cx="6733248" cy="934952"/>
          </a:xfrm>
          <a:prstGeom prst="rect">
            <a:avLst/>
          </a:prstGeom>
          <a:solidFill>
            <a:srgbClr val="C0D1E3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80FE4B7-50AE-836F-C79F-5BA6B0CE3A42}"/>
              </a:ext>
            </a:extLst>
          </p:cNvPr>
          <p:cNvGrpSpPr/>
          <p:nvPr/>
        </p:nvGrpSpPr>
        <p:grpSpPr>
          <a:xfrm>
            <a:off x="-2688976" y="1700808"/>
            <a:ext cx="9051243" cy="4212468"/>
            <a:chOff x="-2688976" y="1700808"/>
            <a:chExt cx="9051243" cy="4212468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2782632" y="1700808"/>
              <a:ext cx="0" cy="421246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-2623630" y="4353319"/>
              <a:ext cx="898589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12" name="任意多边形: 形状 11"/>
            <p:cNvSpPr/>
            <p:nvPr/>
          </p:nvSpPr>
          <p:spPr>
            <a:xfrm>
              <a:off x="2149799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4092036" y="3484647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H="1">
              <a:off x="-1824096" y="2478524"/>
              <a:ext cx="3956817" cy="1874699"/>
            </a:xfrm>
            <a:custGeom>
              <a:avLst/>
              <a:gdLst>
                <a:gd name="csX0" fmla="*/ 0 w 3663737"/>
                <a:gd name="csY0" fmla="*/ 532987 h 3147335"/>
                <a:gd name="csX1" fmla="*/ 1466722 w 3663737"/>
                <a:gd name="csY1" fmla="*/ 66581 h 3147335"/>
                <a:gd name="csX2" fmla="*/ 1841074 w 3663737"/>
                <a:gd name="csY2" fmla="*/ 1815602 h 3147335"/>
                <a:gd name="csX3" fmla="*/ 3056183 w 3663737"/>
                <a:gd name="csY3" fmla="*/ 3147312 h 3147335"/>
                <a:gd name="csX4" fmla="*/ 3663737 w 3663737"/>
                <a:gd name="csY4" fmla="*/ 1784917 h 3147335"/>
                <a:gd name="csX0-1" fmla="*/ 0 w 2687967"/>
                <a:gd name="csY0-2" fmla="*/ 2443220 h 3087619"/>
                <a:gd name="csX1-3" fmla="*/ 490952 w 2687967"/>
                <a:gd name="csY1-4" fmla="*/ 6865 h 3087619"/>
                <a:gd name="csX2-5" fmla="*/ 865304 w 2687967"/>
                <a:gd name="csY2-6" fmla="*/ 1755886 h 3087619"/>
                <a:gd name="csX3-7" fmla="*/ 2080413 w 2687967"/>
                <a:gd name="csY3-8" fmla="*/ 3087596 h 3087619"/>
                <a:gd name="csX4-9" fmla="*/ 2687967 w 2687967"/>
                <a:gd name="csY4-10" fmla="*/ 1725201 h 3087619"/>
                <a:gd name="csX0-11" fmla="*/ 0 w 2687967"/>
                <a:gd name="csY0-12" fmla="*/ 2908162 h 3552564"/>
                <a:gd name="csX1-13" fmla="*/ 908262 w 2687967"/>
                <a:gd name="csY1-14" fmla="*/ 5402 h 3552564"/>
                <a:gd name="csX2-15" fmla="*/ 865304 w 2687967"/>
                <a:gd name="csY2-16" fmla="*/ 2220828 h 3552564"/>
                <a:gd name="csX3-17" fmla="*/ 2080413 w 2687967"/>
                <a:gd name="csY3-18" fmla="*/ 3552538 h 3552564"/>
                <a:gd name="csX4-19" fmla="*/ 2687967 w 2687967"/>
                <a:gd name="csY4-20" fmla="*/ 2190143 h 3552564"/>
                <a:gd name="csX0-21" fmla="*/ 0 w 2687967"/>
                <a:gd name="csY0-22" fmla="*/ 2932177 h 3576566"/>
                <a:gd name="csX1-23" fmla="*/ 908262 w 2687967"/>
                <a:gd name="csY1-24" fmla="*/ 29417 h 3576566"/>
                <a:gd name="csX2-25" fmla="*/ 2062002 w 2687967"/>
                <a:gd name="csY2-26" fmla="*/ 1557509 h 3576566"/>
                <a:gd name="csX3-27" fmla="*/ 2080413 w 2687967"/>
                <a:gd name="csY3-28" fmla="*/ 3576553 h 3576566"/>
                <a:gd name="csX4-29" fmla="*/ 2687967 w 2687967"/>
                <a:gd name="csY4-30" fmla="*/ 2214158 h 3576566"/>
                <a:gd name="csX0-31" fmla="*/ 0 w 2687967"/>
                <a:gd name="csY0-32" fmla="*/ 2932177 h 3576566"/>
                <a:gd name="csX1-33" fmla="*/ 908262 w 2687967"/>
                <a:gd name="csY1-34" fmla="*/ 29417 h 3576566"/>
                <a:gd name="csX2-35" fmla="*/ 2062002 w 2687967"/>
                <a:gd name="csY2-36" fmla="*/ 1557509 h 3576566"/>
                <a:gd name="csX3-37" fmla="*/ 2062003 w 2687967"/>
                <a:gd name="csY3-38" fmla="*/ 3576553 h 3576566"/>
                <a:gd name="csX4-39" fmla="*/ 2687967 w 2687967"/>
                <a:gd name="csY4-40" fmla="*/ 2214158 h 3576566"/>
                <a:gd name="csX0-41" fmla="*/ 0 w 2687967"/>
                <a:gd name="csY0-42" fmla="*/ 2928055 h 2928055"/>
                <a:gd name="csX1-43" fmla="*/ 908262 w 2687967"/>
                <a:gd name="csY1-44" fmla="*/ 25295 h 2928055"/>
                <a:gd name="csX2-45" fmla="*/ 2062002 w 2687967"/>
                <a:gd name="csY2-46" fmla="*/ 1553387 h 2928055"/>
                <a:gd name="csX3-47" fmla="*/ 2687967 w 2687967"/>
                <a:gd name="csY3-48" fmla="*/ 2210036 h 2928055"/>
                <a:gd name="csX0-49" fmla="*/ 0 w 3995129"/>
                <a:gd name="csY0-50" fmla="*/ 2926470 h 2926470"/>
                <a:gd name="csX1-51" fmla="*/ 908262 w 3995129"/>
                <a:gd name="csY1-52" fmla="*/ 23710 h 2926470"/>
                <a:gd name="csX2-53" fmla="*/ 2062002 w 3995129"/>
                <a:gd name="csY2-54" fmla="*/ 1551802 h 2926470"/>
                <a:gd name="csX3-55" fmla="*/ 3995129 w 3995129"/>
                <a:gd name="csY3-56" fmla="*/ 1564075 h 2926470"/>
                <a:gd name="csX0-57" fmla="*/ 0 w 3995129"/>
                <a:gd name="csY0-58" fmla="*/ 2926470 h 2926470"/>
                <a:gd name="csX1-59" fmla="*/ 908262 w 3995129"/>
                <a:gd name="csY1-60" fmla="*/ 23710 h 2926470"/>
                <a:gd name="csX2-61" fmla="*/ 2062002 w 3995129"/>
                <a:gd name="csY2-62" fmla="*/ 1551802 h 2926470"/>
                <a:gd name="csX3-63" fmla="*/ 3995129 w 3995129"/>
                <a:gd name="csY3-64" fmla="*/ 1564075 h 2926470"/>
                <a:gd name="csX0-65" fmla="*/ 0 w 3967612"/>
                <a:gd name="csY0-66" fmla="*/ 2926666 h 2926666"/>
                <a:gd name="csX1-67" fmla="*/ 908262 w 3967612"/>
                <a:gd name="csY1-68" fmla="*/ 23906 h 2926666"/>
                <a:gd name="csX2-69" fmla="*/ 2062002 w 3967612"/>
                <a:gd name="csY2-70" fmla="*/ 1551998 h 2926666"/>
                <a:gd name="csX3-71" fmla="*/ 3967612 w 3967612"/>
                <a:gd name="csY3-72" fmla="*/ 1648937 h 2926666"/>
                <a:gd name="csX0-73" fmla="*/ 0 w 4005712"/>
                <a:gd name="csY0-74" fmla="*/ 2926637 h 2926637"/>
                <a:gd name="csX1-75" fmla="*/ 908262 w 4005712"/>
                <a:gd name="csY1-76" fmla="*/ 23877 h 2926637"/>
                <a:gd name="csX2-77" fmla="*/ 2062002 w 4005712"/>
                <a:gd name="csY2-78" fmla="*/ 1551969 h 2926637"/>
                <a:gd name="csX3-79" fmla="*/ 4005712 w 4005712"/>
                <a:gd name="csY3-80" fmla="*/ 1636208 h 2926637"/>
                <a:gd name="csX0-81" fmla="*/ 0 w 4005712"/>
                <a:gd name="csY0-82" fmla="*/ 2934061 h 2934061"/>
                <a:gd name="csX1-83" fmla="*/ 908262 w 4005712"/>
                <a:gd name="csY1-84" fmla="*/ 31301 h 2934061"/>
                <a:gd name="csX2-85" fmla="*/ 2026019 w 4005712"/>
                <a:gd name="csY2-86" fmla="*/ 1411226 h 2934061"/>
                <a:gd name="csX3-87" fmla="*/ 4005712 w 4005712"/>
                <a:gd name="csY3-88" fmla="*/ 1643632 h 2934061"/>
                <a:gd name="csX0-89" fmla="*/ 0 w 4005712"/>
                <a:gd name="csY0-90" fmla="*/ 2934061 h 2934061"/>
                <a:gd name="csX1-91" fmla="*/ 908262 w 4005712"/>
                <a:gd name="csY1-92" fmla="*/ 31301 h 2934061"/>
                <a:gd name="csX2-93" fmla="*/ 2026019 w 4005712"/>
                <a:gd name="csY2-94" fmla="*/ 1411226 h 2934061"/>
                <a:gd name="csX3-95" fmla="*/ 4005712 w 4005712"/>
                <a:gd name="csY3-96" fmla="*/ 1643632 h 2934061"/>
                <a:gd name="csX0-97" fmla="*/ 0 w 4005712"/>
                <a:gd name="csY0-98" fmla="*/ 2932752 h 2932752"/>
                <a:gd name="csX1-99" fmla="*/ 908262 w 4005712"/>
                <a:gd name="csY1-100" fmla="*/ 29992 h 2932752"/>
                <a:gd name="csX2-101" fmla="*/ 2026019 w 4005712"/>
                <a:gd name="csY2-102" fmla="*/ 1409917 h 2932752"/>
                <a:gd name="csX3-103" fmla="*/ 4005712 w 4005712"/>
                <a:gd name="csY3-104" fmla="*/ 1642323 h 2932752"/>
                <a:gd name="csX0-105" fmla="*/ 0 w 4005712"/>
                <a:gd name="csY0-106" fmla="*/ 2927820 h 2927820"/>
                <a:gd name="csX1-107" fmla="*/ 1025737 w 4005712"/>
                <a:gd name="csY1-108" fmla="*/ 31410 h 2927820"/>
                <a:gd name="csX2-109" fmla="*/ 2026019 w 4005712"/>
                <a:gd name="csY2-110" fmla="*/ 1404985 h 2927820"/>
                <a:gd name="csX3-111" fmla="*/ 4005712 w 4005712"/>
                <a:gd name="csY3-112" fmla="*/ 1637391 h 2927820"/>
                <a:gd name="csX0-113" fmla="*/ 0 w 4005712"/>
                <a:gd name="csY0-114" fmla="*/ 2896438 h 2896438"/>
                <a:gd name="csX1-115" fmla="*/ 1025737 w 4005712"/>
                <a:gd name="csY1-116" fmla="*/ 28 h 2896438"/>
                <a:gd name="csX2-117" fmla="*/ 2026019 w 4005712"/>
                <a:gd name="csY2-118" fmla="*/ 1373603 h 2896438"/>
                <a:gd name="csX3-119" fmla="*/ 4005712 w 4005712"/>
                <a:gd name="csY3-120" fmla="*/ 1606009 h 2896438"/>
                <a:gd name="csX0-121" fmla="*/ 0 w 4005712"/>
                <a:gd name="csY0-122" fmla="*/ 2896411 h 2896411"/>
                <a:gd name="csX1-123" fmla="*/ 1025737 w 4005712"/>
                <a:gd name="csY1-124" fmla="*/ 1 h 2896411"/>
                <a:gd name="csX2-125" fmla="*/ 2026019 w 4005712"/>
                <a:gd name="csY2-126" fmla="*/ 1373576 h 2896411"/>
                <a:gd name="csX3-127" fmla="*/ 4005712 w 4005712"/>
                <a:gd name="csY3-128" fmla="*/ 1605982 h 2896411"/>
                <a:gd name="csX0-129" fmla="*/ 0 w 4046987"/>
                <a:gd name="csY0-130" fmla="*/ 3250647 h 3250647"/>
                <a:gd name="csX1-131" fmla="*/ 1067012 w 4046987"/>
                <a:gd name="csY1-132" fmla="*/ 43087 h 3250647"/>
                <a:gd name="csX2-133" fmla="*/ 2067294 w 4046987"/>
                <a:gd name="csY2-134" fmla="*/ 1416662 h 3250647"/>
                <a:gd name="csX3-135" fmla="*/ 4046987 w 4046987"/>
                <a:gd name="csY3-136" fmla="*/ 1649068 h 3250647"/>
                <a:gd name="csX0-137" fmla="*/ 0 w 4046987"/>
                <a:gd name="csY0-138" fmla="*/ 3250647 h 3250647"/>
                <a:gd name="csX1-139" fmla="*/ 1067012 w 4046987"/>
                <a:gd name="csY1-140" fmla="*/ 43087 h 3250647"/>
                <a:gd name="csX2-141" fmla="*/ 2067294 w 4046987"/>
                <a:gd name="csY2-142" fmla="*/ 1416662 h 3250647"/>
                <a:gd name="csX3-143" fmla="*/ 4046987 w 4046987"/>
                <a:gd name="csY3-144" fmla="*/ 1649068 h 3250647"/>
                <a:gd name="csX0-145" fmla="*/ 0 w 3977137"/>
                <a:gd name="csY0-146" fmla="*/ 3333193 h 3333193"/>
                <a:gd name="csX1-147" fmla="*/ 997162 w 3977137"/>
                <a:gd name="csY1-148" fmla="*/ 46258 h 3333193"/>
                <a:gd name="csX2-149" fmla="*/ 1997444 w 3977137"/>
                <a:gd name="csY2-150" fmla="*/ 1419833 h 3333193"/>
                <a:gd name="csX3-151" fmla="*/ 3977137 w 3977137"/>
                <a:gd name="csY3-152" fmla="*/ 1652239 h 3333193"/>
                <a:gd name="csX0-153" fmla="*/ 0 w 3977137"/>
                <a:gd name="csY0-154" fmla="*/ 3333193 h 3333193"/>
                <a:gd name="csX1-155" fmla="*/ 997162 w 3977137"/>
                <a:gd name="csY1-156" fmla="*/ 46258 h 3333193"/>
                <a:gd name="csX2-157" fmla="*/ 1997444 w 3977137"/>
                <a:gd name="csY2-158" fmla="*/ 1419833 h 3333193"/>
                <a:gd name="csX3-159" fmla="*/ 3977137 w 3977137"/>
                <a:gd name="csY3-160" fmla="*/ 1652239 h 3333193"/>
                <a:gd name="csX0-161" fmla="*/ 0 w 3977137"/>
                <a:gd name="csY0-162" fmla="*/ 3333193 h 3333193"/>
                <a:gd name="csX1-163" fmla="*/ 1037802 w 3977137"/>
                <a:gd name="csY1-164" fmla="*/ 46258 h 3333193"/>
                <a:gd name="csX2-165" fmla="*/ 1997444 w 3977137"/>
                <a:gd name="csY2-166" fmla="*/ 1419833 h 3333193"/>
                <a:gd name="csX3-167" fmla="*/ 3977137 w 3977137"/>
                <a:gd name="csY3-168" fmla="*/ 1652239 h 3333193"/>
                <a:gd name="csX0-169" fmla="*/ 0 w 3977137"/>
                <a:gd name="csY0-170" fmla="*/ 3286946 h 3286946"/>
                <a:gd name="csX1-171" fmla="*/ 1037802 w 3977137"/>
                <a:gd name="csY1-172" fmla="*/ 11 h 3286946"/>
                <a:gd name="csX2-173" fmla="*/ 1997444 w 3977137"/>
                <a:gd name="csY2-174" fmla="*/ 1373586 h 3286946"/>
                <a:gd name="csX3-175" fmla="*/ 3977137 w 3977137"/>
                <a:gd name="csY3-176" fmla="*/ 1605992 h 3286946"/>
                <a:gd name="csX0-177" fmla="*/ 0 w 3845057"/>
                <a:gd name="csY0-178" fmla="*/ 3327908 h 3327908"/>
                <a:gd name="csX1-179" fmla="*/ 905722 w 3845057"/>
                <a:gd name="csY1-180" fmla="*/ 46053 h 3327908"/>
                <a:gd name="csX2-181" fmla="*/ 1865364 w 3845057"/>
                <a:gd name="csY2-182" fmla="*/ 1419628 h 3327908"/>
                <a:gd name="csX3-183" fmla="*/ 3845057 w 3845057"/>
                <a:gd name="csY3-184" fmla="*/ 1652034 h 3327908"/>
                <a:gd name="csX0-185" fmla="*/ 0 w 3829817"/>
                <a:gd name="csY0-186" fmla="*/ 3322624 h 3322624"/>
                <a:gd name="csX1-187" fmla="*/ 890482 w 3829817"/>
                <a:gd name="csY1-188" fmla="*/ 45849 h 3322624"/>
                <a:gd name="csX2-189" fmla="*/ 1850124 w 3829817"/>
                <a:gd name="csY2-190" fmla="*/ 1419424 h 3322624"/>
                <a:gd name="csX3-191" fmla="*/ 3829817 w 3829817"/>
                <a:gd name="csY3-192" fmla="*/ 1651830 h 3322624"/>
                <a:gd name="csX0-193" fmla="*/ 0 w 3829817"/>
                <a:gd name="csY0-194" fmla="*/ 3322624 h 3322624"/>
                <a:gd name="csX1-195" fmla="*/ 890482 w 3829817"/>
                <a:gd name="csY1-196" fmla="*/ 45849 h 3322624"/>
                <a:gd name="csX2-197" fmla="*/ 1850124 w 3829817"/>
                <a:gd name="csY2-198" fmla="*/ 1419424 h 3322624"/>
                <a:gd name="csX3-199" fmla="*/ 3829817 w 3829817"/>
                <a:gd name="csY3-200" fmla="*/ 1651830 h 3322624"/>
                <a:gd name="csX0-201" fmla="*/ 0 w 3829817"/>
                <a:gd name="csY0-202" fmla="*/ 3322624 h 3322624"/>
                <a:gd name="csX1-203" fmla="*/ 946362 w 3829817"/>
                <a:gd name="csY1-204" fmla="*/ 45849 h 3322624"/>
                <a:gd name="csX2-205" fmla="*/ 1850124 w 3829817"/>
                <a:gd name="csY2-206" fmla="*/ 1419424 h 3322624"/>
                <a:gd name="csX3-207" fmla="*/ 3829817 w 3829817"/>
                <a:gd name="csY3-208" fmla="*/ 1651830 h 3322624"/>
                <a:gd name="csX0-209" fmla="*/ 0 w 3829817"/>
                <a:gd name="csY0-210" fmla="*/ 3322624 h 3322624"/>
                <a:gd name="csX1-211" fmla="*/ 946362 w 3829817"/>
                <a:gd name="csY1-212" fmla="*/ 45849 h 3322624"/>
                <a:gd name="csX2-213" fmla="*/ 1850124 w 3829817"/>
                <a:gd name="csY2-214" fmla="*/ 1419424 h 3322624"/>
                <a:gd name="csX3-215" fmla="*/ 3829817 w 3829817"/>
                <a:gd name="csY3-216" fmla="*/ 1651830 h 3322624"/>
                <a:gd name="csX0-217" fmla="*/ 0 w 3829817"/>
                <a:gd name="csY0-218" fmla="*/ 3276814 h 3276814"/>
                <a:gd name="csX1-219" fmla="*/ 946362 w 3829817"/>
                <a:gd name="csY1-220" fmla="*/ 39 h 3276814"/>
                <a:gd name="csX2-221" fmla="*/ 1850124 w 3829817"/>
                <a:gd name="csY2-222" fmla="*/ 1373614 h 3276814"/>
                <a:gd name="csX3-223" fmla="*/ 3829817 w 3829817"/>
                <a:gd name="csY3-224" fmla="*/ 1606020 h 3276814"/>
                <a:gd name="csX0-225" fmla="*/ 0 w 3814577"/>
                <a:gd name="csY0-226" fmla="*/ 1889207 h 1889207"/>
                <a:gd name="csX1-227" fmla="*/ 931122 w 3814577"/>
                <a:gd name="csY1-228" fmla="*/ 4352 h 1889207"/>
                <a:gd name="csX2-229" fmla="*/ 1834884 w 3814577"/>
                <a:gd name="csY2-230" fmla="*/ 1377927 h 1889207"/>
                <a:gd name="csX3-231" fmla="*/ 3814577 w 3814577"/>
                <a:gd name="csY3-232" fmla="*/ 1610333 h 1889207"/>
                <a:gd name="csX0-233" fmla="*/ 0 w 3814577"/>
                <a:gd name="csY0-234" fmla="*/ 1889207 h 1889305"/>
                <a:gd name="csX1-235" fmla="*/ 931122 w 3814577"/>
                <a:gd name="csY1-236" fmla="*/ 4352 h 1889305"/>
                <a:gd name="csX2-237" fmla="*/ 1834884 w 3814577"/>
                <a:gd name="csY2-238" fmla="*/ 1377927 h 1889305"/>
                <a:gd name="csX3-239" fmla="*/ 3814577 w 3814577"/>
                <a:gd name="csY3-240" fmla="*/ 1610333 h 1889305"/>
                <a:gd name="csX0-241" fmla="*/ 0 w 3814577"/>
                <a:gd name="csY0-242" fmla="*/ 1884905 h 1884998"/>
                <a:gd name="csX1-243" fmla="*/ 931122 w 3814577"/>
                <a:gd name="csY1-244" fmla="*/ 50 h 1884998"/>
                <a:gd name="csX2-245" fmla="*/ 1834884 w 3814577"/>
                <a:gd name="csY2-246" fmla="*/ 1373625 h 1884998"/>
                <a:gd name="csX3-247" fmla="*/ 3814577 w 3814577"/>
                <a:gd name="csY3-248" fmla="*/ 1606031 h 1884998"/>
                <a:gd name="csX0-249" fmla="*/ 0 w 3814577"/>
                <a:gd name="csY0-250" fmla="*/ 1885943 h 1886039"/>
                <a:gd name="csX1-251" fmla="*/ 931122 w 3814577"/>
                <a:gd name="csY1-252" fmla="*/ 1088 h 1886039"/>
                <a:gd name="csX2-253" fmla="*/ 1850124 w 3814577"/>
                <a:gd name="csY2-254" fmla="*/ 1613423 h 1886039"/>
                <a:gd name="csX3-255" fmla="*/ 3814577 w 3814577"/>
                <a:gd name="csY3-256" fmla="*/ 1607069 h 1886039"/>
                <a:gd name="csX0-257" fmla="*/ 0 w 3956817"/>
                <a:gd name="csY0-258" fmla="*/ 1885943 h 1886039"/>
                <a:gd name="csX1-259" fmla="*/ 931122 w 3956817"/>
                <a:gd name="csY1-260" fmla="*/ 1088 h 1886039"/>
                <a:gd name="csX2-261" fmla="*/ 1850124 w 3956817"/>
                <a:gd name="csY2-262" fmla="*/ 1613423 h 1886039"/>
                <a:gd name="csX3-263" fmla="*/ 3956817 w 3956817"/>
                <a:gd name="csY3-264" fmla="*/ 1866149 h 1886039"/>
                <a:gd name="csX0-265" fmla="*/ 0 w 3956817"/>
                <a:gd name="csY0-266" fmla="*/ 1885943 h 1885943"/>
                <a:gd name="csX1-267" fmla="*/ 931122 w 3956817"/>
                <a:gd name="csY1-268" fmla="*/ 1088 h 1885943"/>
                <a:gd name="csX2-269" fmla="*/ 1850124 w 3956817"/>
                <a:gd name="csY2-270" fmla="*/ 1613423 h 1885943"/>
                <a:gd name="csX3-271" fmla="*/ 3956817 w 3956817"/>
                <a:gd name="csY3-272" fmla="*/ 1866149 h 1885943"/>
                <a:gd name="csX0-273" fmla="*/ 0 w 3956817"/>
                <a:gd name="csY0-274" fmla="*/ 1887496 h 1887496"/>
                <a:gd name="csX1-275" fmla="*/ 931122 w 3956817"/>
                <a:gd name="csY1-276" fmla="*/ 2641 h 1887496"/>
                <a:gd name="csX2-277" fmla="*/ 1565644 w 3956817"/>
                <a:gd name="csY2-278" fmla="*/ 1477816 h 1887496"/>
                <a:gd name="csX3-279" fmla="*/ 3956817 w 3956817"/>
                <a:gd name="csY3-280" fmla="*/ 1867702 h 1887496"/>
                <a:gd name="csX0-281" fmla="*/ 0 w 3956817"/>
                <a:gd name="csY0-282" fmla="*/ 1887633 h 1887633"/>
                <a:gd name="csX1-283" fmla="*/ 931122 w 3956817"/>
                <a:gd name="csY1-284" fmla="*/ 2778 h 1887633"/>
                <a:gd name="csX2-285" fmla="*/ 1565644 w 3956817"/>
                <a:gd name="csY2-286" fmla="*/ 1477953 h 1887633"/>
                <a:gd name="csX3-287" fmla="*/ 3956817 w 3956817"/>
                <a:gd name="csY3-288" fmla="*/ 1867839 h 1887633"/>
                <a:gd name="csX0-289" fmla="*/ 0 w 3956817"/>
                <a:gd name="csY0-290" fmla="*/ 1890457 h 1890457"/>
                <a:gd name="csX1-291" fmla="*/ 931122 w 3956817"/>
                <a:gd name="csY1-292" fmla="*/ 5602 h 1890457"/>
                <a:gd name="csX2-293" fmla="*/ 1682484 w 3956817"/>
                <a:gd name="csY2-294" fmla="*/ 1333457 h 1890457"/>
                <a:gd name="csX3-295" fmla="*/ 3956817 w 3956817"/>
                <a:gd name="csY3-296" fmla="*/ 1870663 h 1890457"/>
                <a:gd name="csX0-297" fmla="*/ 0 w 3956817"/>
                <a:gd name="csY0-298" fmla="*/ 1892598 h 1892598"/>
                <a:gd name="csX1-299" fmla="*/ 931122 w 3956817"/>
                <a:gd name="csY1-300" fmla="*/ 7743 h 1892598"/>
                <a:gd name="csX2-301" fmla="*/ 1763764 w 3956817"/>
                <a:gd name="csY2-302" fmla="*/ 1254318 h 1892598"/>
                <a:gd name="csX3-303" fmla="*/ 3956817 w 3956817"/>
                <a:gd name="csY3-304" fmla="*/ 1872804 h 1892598"/>
                <a:gd name="csX0-305" fmla="*/ 0 w 3956817"/>
                <a:gd name="csY0-306" fmla="*/ 1892598 h 1892598"/>
                <a:gd name="csX1-307" fmla="*/ 931122 w 3956817"/>
                <a:gd name="csY1-308" fmla="*/ 7743 h 1892598"/>
                <a:gd name="csX2-309" fmla="*/ 1763764 w 3956817"/>
                <a:gd name="csY2-310" fmla="*/ 1254318 h 1892598"/>
                <a:gd name="csX3-311" fmla="*/ 3956817 w 3956817"/>
                <a:gd name="csY3-312" fmla="*/ 1872804 h 1892598"/>
                <a:gd name="csX0-313" fmla="*/ 0 w 3956817"/>
                <a:gd name="csY0-314" fmla="*/ 1894787 h 1894787"/>
                <a:gd name="csX1-315" fmla="*/ 931122 w 3956817"/>
                <a:gd name="csY1-316" fmla="*/ 9932 h 1894787"/>
                <a:gd name="csX2-317" fmla="*/ 1763764 w 3956817"/>
                <a:gd name="csY2-318" fmla="*/ 1256507 h 1894787"/>
                <a:gd name="csX3-319" fmla="*/ 3956817 w 3956817"/>
                <a:gd name="csY3-320" fmla="*/ 1874993 h 1894787"/>
                <a:gd name="csX0-321" fmla="*/ 0 w 3956817"/>
                <a:gd name="csY0-322" fmla="*/ 1892599 h 1892599"/>
                <a:gd name="csX1-323" fmla="*/ 931122 w 3956817"/>
                <a:gd name="csY1-324" fmla="*/ 7744 h 1892599"/>
                <a:gd name="csX2-325" fmla="*/ 1763764 w 3956817"/>
                <a:gd name="csY2-326" fmla="*/ 1254319 h 1892599"/>
                <a:gd name="csX3-327" fmla="*/ 3956817 w 3956817"/>
                <a:gd name="csY3-328" fmla="*/ 1872805 h 1892599"/>
                <a:gd name="csX0-329" fmla="*/ 0 w 3956817"/>
                <a:gd name="csY0-330" fmla="*/ 1893042 h 1893042"/>
                <a:gd name="csX1-331" fmla="*/ 931122 w 3956817"/>
                <a:gd name="csY1-332" fmla="*/ 8187 h 1893042"/>
                <a:gd name="csX2-333" fmla="*/ 1763764 w 3956817"/>
                <a:gd name="csY2-334" fmla="*/ 1254762 h 1893042"/>
                <a:gd name="csX3-335" fmla="*/ 3956817 w 3956817"/>
                <a:gd name="csY3-336" fmla="*/ 1873248 h 1893042"/>
                <a:gd name="csX0-337" fmla="*/ 0 w 3956817"/>
                <a:gd name="csY0-338" fmla="*/ 1894731 h 1894731"/>
                <a:gd name="csX1-339" fmla="*/ 931122 w 3956817"/>
                <a:gd name="csY1-340" fmla="*/ 9876 h 1894731"/>
                <a:gd name="csX2-341" fmla="*/ 1763764 w 3956817"/>
                <a:gd name="csY2-342" fmla="*/ 1256451 h 1894731"/>
                <a:gd name="csX3-343" fmla="*/ 3956817 w 3956817"/>
                <a:gd name="csY3-344" fmla="*/ 1874937 h 1894731"/>
                <a:gd name="csX0-345" fmla="*/ 0 w 3956817"/>
                <a:gd name="csY0-346" fmla="*/ 1884899 h 1884899"/>
                <a:gd name="csX1-347" fmla="*/ 931122 w 3956817"/>
                <a:gd name="csY1-348" fmla="*/ 44 h 1884899"/>
                <a:gd name="csX2-349" fmla="*/ 1763764 w 3956817"/>
                <a:gd name="csY2-350" fmla="*/ 1246619 h 1884899"/>
                <a:gd name="csX3-351" fmla="*/ 3956817 w 3956817"/>
                <a:gd name="csY3-352" fmla="*/ 1865105 h 1884899"/>
                <a:gd name="csX0-353" fmla="*/ 0 w 3956817"/>
                <a:gd name="csY0-354" fmla="*/ 1884899 h 1884899"/>
                <a:gd name="csX1-355" fmla="*/ 931122 w 3956817"/>
                <a:gd name="csY1-356" fmla="*/ 44 h 1884899"/>
                <a:gd name="csX2-357" fmla="*/ 1763764 w 3956817"/>
                <a:gd name="csY2-358" fmla="*/ 1246619 h 1884899"/>
                <a:gd name="csX3-359" fmla="*/ 3956817 w 3956817"/>
                <a:gd name="csY3-360" fmla="*/ 1865105 h 1884899"/>
                <a:gd name="csX0-361" fmla="*/ 0 w 3956817"/>
                <a:gd name="csY0-362" fmla="*/ 1884899 h 1884899"/>
                <a:gd name="csX1-363" fmla="*/ 931122 w 3956817"/>
                <a:gd name="csY1-364" fmla="*/ 44 h 1884899"/>
                <a:gd name="csX2-365" fmla="*/ 1763764 w 3956817"/>
                <a:gd name="csY2-366" fmla="*/ 1246619 h 1884899"/>
                <a:gd name="csX3-367" fmla="*/ 3956817 w 3956817"/>
                <a:gd name="csY3-368" fmla="*/ 1865105 h 1884899"/>
                <a:gd name="csX0-369" fmla="*/ 0 w 3956817"/>
                <a:gd name="csY0-370" fmla="*/ 1874739 h 1874739"/>
                <a:gd name="csX1-371" fmla="*/ 834602 w 3956817"/>
                <a:gd name="csY1-372" fmla="*/ 44 h 1874739"/>
                <a:gd name="csX2-373" fmla="*/ 1763764 w 3956817"/>
                <a:gd name="csY2-374" fmla="*/ 1236459 h 1874739"/>
                <a:gd name="csX3-375" fmla="*/ 3956817 w 3956817"/>
                <a:gd name="csY3-376" fmla="*/ 1854945 h 1874739"/>
                <a:gd name="csX0-377" fmla="*/ 0 w 3956817"/>
                <a:gd name="csY0-378" fmla="*/ 1874697 h 1874697"/>
                <a:gd name="csX1-379" fmla="*/ 834602 w 3956817"/>
                <a:gd name="csY1-380" fmla="*/ 2 h 1874697"/>
                <a:gd name="csX2-381" fmla="*/ 1763764 w 3956817"/>
                <a:gd name="csY2-382" fmla="*/ 1236417 h 1874697"/>
                <a:gd name="csX3-383" fmla="*/ 3956817 w 3956817"/>
                <a:gd name="csY3-384" fmla="*/ 1854903 h 1874697"/>
                <a:gd name="csX0-385" fmla="*/ 0 w 3956817"/>
                <a:gd name="csY0-386" fmla="*/ 1874699 h 1874699"/>
                <a:gd name="csX1-387" fmla="*/ 834602 w 3956817"/>
                <a:gd name="csY1-388" fmla="*/ 4 h 1874699"/>
                <a:gd name="csX2-389" fmla="*/ 1763764 w 3956817"/>
                <a:gd name="csY2-390" fmla="*/ 1236419 h 1874699"/>
                <a:gd name="csX3-391" fmla="*/ 3956817 w 3956817"/>
                <a:gd name="csY3-392" fmla="*/ 1854905 h 1874699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</a:cxnLst>
              <a:rect l="l" t="t" r="r" b="b"/>
              <a:pathLst>
                <a:path w="3956817" h="1874699">
                  <a:moveTo>
                    <a:pt x="0" y="1874699"/>
                  </a:moveTo>
                  <a:cubicBezTo>
                    <a:pt x="919028" y="1874971"/>
                    <a:pt x="556727" y="2245"/>
                    <a:pt x="834602" y="4"/>
                  </a:cubicBezTo>
                  <a:cubicBezTo>
                    <a:pt x="1112477" y="-2237"/>
                    <a:pt x="1243395" y="927269"/>
                    <a:pt x="1763764" y="1236419"/>
                  </a:cubicBezTo>
                  <a:cubicBezTo>
                    <a:pt x="2284133" y="1545569"/>
                    <a:pt x="3699642" y="1837454"/>
                    <a:pt x="3956817" y="1854905"/>
                  </a:cubicBez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06568" y="2746559"/>
              <a:ext cx="316915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890645" y="2749300"/>
              <a:ext cx="358526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9503" y="2746559"/>
              <a:ext cx="451301" cy="369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III</a:t>
              </a:r>
              <a:endParaRPr lang="zh-CN" altLang="en-US" dirty="0">
                <a:solidFill>
                  <a:srgbClr val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-2688976" y="3538647"/>
              <a:ext cx="9000000" cy="0"/>
            </a:xfrm>
            <a:prstGeom prst="line">
              <a:avLst/>
            </a:prstGeom>
            <a:ln w="12700">
              <a:solidFill>
                <a:srgbClr val="0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4144595" y="3540833"/>
              <a:ext cx="295221" cy="569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799685" y="2478523"/>
              <a:ext cx="909348" cy="187469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796226" y="3942227"/>
              <a:ext cx="886506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782632" y="3546527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682732" y="3510523"/>
              <a:ext cx="0" cy="4961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altLang="zh-CN" sz="1000" dirty="0">
                      <a:solidFill>
                        <a:srgbClr val="000000"/>
                      </a:solidFill>
                    </a:rPr>
                    <a:t>=0.5nm</a:t>
                  </a:r>
                  <a:endParaRPr lang="zh-CN" altLang="en-US" sz="1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664" y="3893990"/>
                  <a:ext cx="756084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2861437" y="2228944"/>
              <a:ext cx="7560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50" i="1" dirty="0">
                  <a:solidFill>
                    <a:srgbClr val="000000"/>
                  </a:solidFill>
                  <a:latin typeface="KaTeX_Math"/>
                </a:rPr>
                <a:t>V</a:t>
              </a:r>
              <a:r>
                <a:rPr lang="zh-CN" altLang="zh-CN" sz="1050" baseline="-25000" dirty="0">
                  <a:solidFill>
                    <a:srgbClr val="000000"/>
                  </a:solidFill>
                  <a:latin typeface="KaTeX_Main"/>
                </a:rPr>
                <a:t>0</a:t>
              </a:r>
              <a:r>
                <a:rPr lang="zh-CN" altLang="zh-CN" sz="1050" dirty="0">
                  <a:solidFill>
                    <a:srgbClr val="000000"/>
                  </a:solidFill>
                  <a:latin typeface="KaTeX_Main"/>
                </a:rPr>
                <a:t>​=2 eV</a:t>
              </a:r>
              <a:endParaRPr lang="zh-CN" altLang="en-US" sz="1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DD8DF2-449E-01E4-9CDB-5497612DEFE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解薛定谔方程</a:t>
            </a:r>
          </a:p>
        </p:txBody>
      </p:sp>
      <p:sp>
        <p:nvSpPr>
          <p:cNvPr id="3" name="!!矩形 1">
            <a:extLst>
              <a:ext uri="{FF2B5EF4-FFF2-40B4-BE49-F238E27FC236}">
                <a16:creationId xmlns:a16="http://schemas.microsoft.com/office/drawing/2014/main" id="{8995B3FB-60C2-AF09-E6A9-F99284C6749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!!矩形 7">
            <a:extLst>
              <a:ext uri="{FF2B5EF4-FFF2-40B4-BE49-F238E27FC236}">
                <a16:creationId xmlns:a16="http://schemas.microsoft.com/office/drawing/2014/main" id="{834D3CD1-606A-8088-4DA9-918BA447B529}"/>
              </a:ext>
            </a:extLst>
          </p:cNvPr>
          <p:cNvSpPr/>
          <p:nvPr/>
        </p:nvSpPr>
        <p:spPr>
          <a:xfrm>
            <a:off x="0" y="0"/>
            <a:ext cx="191135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" name="!!表格 6">
            <a:extLst>
              <a:ext uri="{FF2B5EF4-FFF2-40B4-BE49-F238E27FC236}">
                <a16:creationId xmlns:a16="http://schemas.microsoft.com/office/drawing/2014/main" id="{3C216A98-3011-267D-D021-7ED349CDD544}"/>
              </a:ext>
            </a:extLst>
          </p:cNvPr>
          <p:cNvGraphicFramePr>
            <a:graphicFrameLocks/>
          </p:cNvGraphicFramePr>
          <p:nvPr/>
        </p:nvGraphicFramePr>
        <p:xfrm>
          <a:off x="-144994" y="50300"/>
          <a:ext cx="124819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32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1935504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358508">
                  <a:extLst>
                    <a:ext uri="{9D8B030D-6E8A-4147-A177-3AD203B41FA5}">
                      <a16:colId xmlns:a16="http://schemas.microsoft.com/office/drawing/2014/main" val="417742799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1823862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080332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01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02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理论基础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	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03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学情分析与教学目标</a:t>
                      </a:r>
                    </a:p>
                    <a:p>
                      <a:pPr algn="ctr"/>
                      <a:endParaRPr lang="zh-CN" altLang="en-US" sz="1600" b="0" dirty="0">
                        <a:solidFill>
                          <a:schemeClr val="bg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04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05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06 </a:t>
                      </a:r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8" name="AutoShape 3">
            <a:extLst>
              <a:ext uri="{FF2B5EF4-FFF2-40B4-BE49-F238E27FC236}">
                <a16:creationId xmlns:a16="http://schemas.microsoft.com/office/drawing/2014/main" id="{522E23B1-AED5-CC6D-C672-8D48C6B2ECD4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一维有限高势垒模型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DAB011-2AC7-BE2B-0EF7-8D38674CE0F5}"/>
              </a:ext>
            </a:extLst>
          </p:cNvPr>
          <p:cNvSpPr txBox="1"/>
          <p:nvPr/>
        </p:nvSpPr>
        <p:spPr>
          <a:xfrm>
            <a:off x="6832832" y="159279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5F9BA3-21F2-C33F-A3C1-29C02E671CE7}"/>
              </a:ext>
            </a:extLst>
          </p:cNvPr>
          <p:cNvSpPr txBox="1"/>
          <p:nvPr/>
        </p:nvSpPr>
        <p:spPr>
          <a:xfrm>
            <a:off x="6840760" y="249289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58651B1-A06C-8B92-DA9D-58ED53199B07}"/>
                  </a:ext>
                </a:extLst>
              </p:cNvPr>
              <p:cNvSpPr txBox="1"/>
              <p:nvPr/>
            </p:nvSpPr>
            <p:spPr>
              <a:xfrm>
                <a:off x="6420036" y="2222052"/>
                <a:ext cx="8465820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58651B1-A06C-8B92-DA9D-58ED5319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036" y="2222052"/>
                <a:ext cx="8465820" cy="911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FB170D7-6670-CE64-C0AF-89A1152ED851}"/>
                  </a:ext>
                </a:extLst>
              </p:cNvPr>
              <p:cNvSpPr txBox="1"/>
              <p:nvPr/>
            </p:nvSpPr>
            <p:spPr>
              <a:xfrm>
                <a:off x="8040216" y="2575809"/>
                <a:ext cx="1396536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FB170D7-6670-CE64-C0AF-89A1152E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216" y="2575809"/>
                <a:ext cx="1396536" cy="277127"/>
              </a:xfrm>
              <a:prstGeom prst="rect">
                <a:avLst/>
              </a:prstGeom>
              <a:blipFill>
                <a:blip r:embed="rId4"/>
                <a:stretch>
                  <a:fillRect l="-5240" t="-4444" r="-437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6816080" y="3527592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区域 </a:t>
            </a:r>
            <a:r>
              <a:rPr lang="en-US" altLang="zh-CN" dirty="0">
                <a:solidFill>
                  <a:srgbClr val="000000"/>
                </a:solidFill>
              </a:rPr>
              <a:t>III :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011402" y="3501008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02" y="3501008"/>
                <a:ext cx="8465418" cy="378309"/>
              </a:xfrm>
              <a:prstGeom prst="rect">
                <a:avLst/>
              </a:prstGeom>
              <a:blipFill>
                <a:blip r:embed="rId5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!!文本框 35">
                <a:extLst>
                  <a:ext uri="{FF2B5EF4-FFF2-40B4-BE49-F238E27FC236}">
                    <a16:creationId xmlns:a16="http://schemas.microsoft.com/office/drawing/2014/main" id="{7BC5DE18-17D7-3C54-6B9A-6C596E80F261}"/>
                  </a:ext>
                </a:extLst>
              </p:cNvPr>
              <p:cNvSpPr txBox="1"/>
              <p:nvPr/>
            </p:nvSpPr>
            <p:spPr>
              <a:xfrm>
                <a:off x="9840416" y="1304764"/>
                <a:ext cx="1137811" cy="818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1" name="!!文本框 35">
                <a:extLst>
                  <a:ext uri="{FF2B5EF4-FFF2-40B4-BE49-F238E27FC236}">
                    <a16:creationId xmlns:a16="http://schemas.microsoft.com/office/drawing/2014/main" id="{7BC5DE18-17D7-3C54-6B9A-6C596E80F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16" y="1304764"/>
                <a:ext cx="1137811" cy="8188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!!文本框 64">
                <a:extLst>
                  <a:ext uri="{FF2B5EF4-FFF2-40B4-BE49-F238E27FC236}">
                    <a16:creationId xmlns:a16="http://schemas.microsoft.com/office/drawing/2014/main" id="{9ECAEA72-81F3-DA94-48A2-8983CE6B50ED}"/>
                  </a:ext>
                </a:extLst>
              </p:cNvPr>
              <p:cNvSpPr txBox="1"/>
              <p:nvPr/>
            </p:nvSpPr>
            <p:spPr>
              <a:xfrm>
                <a:off x="8080067" y="162880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2" name="!!文本框 64">
                <a:extLst>
                  <a:ext uri="{FF2B5EF4-FFF2-40B4-BE49-F238E27FC236}">
                    <a16:creationId xmlns:a16="http://schemas.microsoft.com/office/drawing/2014/main" id="{9ECAEA72-81F3-DA94-48A2-8983CE6B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067" y="1628800"/>
                <a:ext cx="1316834" cy="277127"/>
              </a:xfrm>
              <a:prstGeom prst="rect">
                <a:avLst/>
              </a:prstGeom>
              <a:blipFill>
                <a:blip r:embed="rId7"/>
                <a:stretch>
                  <a:fillRect l="-5556" t="-4348" r="-926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5602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50,&quot;top&quot;:171.66661417322834,&quot;width&quot;:44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50,&quot;top&quot;:171.66661417322834,&quot;width&quot;:44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50,&quot;top&quot;:171.66661417322834,&quot;width&quot;:44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480</Words>
  <Application>Microsoft Office PowerPoint</Application>
  <PresentationFormat>宽屏</PresentationFormat>
  <Paragraphs>123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KaTeX_Main</vt:lpstr>
      <vt:lpstr>KaTeX_Math</vt:lpstr>
      <vt:lpstr>等线</vt:lpstr>
      <vt:lpstr>等线 Light</vt:lpstr>
      <vt:lpstr>黑体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呈安 婉夙</dc:creator>
  <cp:lastModifiedBy>呈安 婉夙</cp:lastModifiedBy>
  <cp:revision>84</cp:revision>
  <dcterms:created xsi:type="dcterms:W3CDTF">2026-06-06T15:10:00Z</dcterms:created>
  <dcterms:modified xsi:type="dcterms:W3CDTF">2026-09-18T09:06:58Z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6858EDED016049078829FE95497CF787_13</vt:lpwstr>
  </property>
</Properties>
</file>